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A896"/>
          </a:solidFill>
          <a:ln w="12700">
            <a:solidFill>
              <a:srgbClr val="00A896"/>
            </a:solidFill>
            <a:prstDash val="solid"/>
          </a:ln>
        </p:spPr>
      </p:sp>
      <p:sp>
        <p:nvSpPr>
          <p:cNvPr id="3" name="Shape 1"/>
          <p:cNvSpPr/>
          <p:nvPr/>
        </p:nvSpPr>
        <p:spPr>
          <a:xfrm>
            <a:off x="0" y="0"/>
            <a:ext cx="9144000" cy="64008"/>
          </a:xfrm>
          <a:prstGeom prst="rect">
            <a:avLst/>
          </a:prstGeom>
          <a:solidFill>
            <a:srgbClr val="028090"/>
          </a:solidFill>
          <a:ln w="12700">
            <a:solidFill>
              <a:srgbClr val="028090"/>
            </a:solidFill>
            <a:prstDash val="solid"/>
          </a:ln>
        </p:spPr>
      </p:sp>
      <p:sp>
        <p:nvSpPr>
          <p:cNvPr id="4" name="Text 2"/>
          <p:cNvSpPr/>
          <p:nvPr/>
        </p:nvSpPr>
        <p:spPr>
          <a:xfrm>
            <a:off x="502920" y="777240"/>
            <a:ext cx="8321040" cy="9144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IMDB Movie Data</a:t>
            </a:r>
            <a:endParaRPr lang="en-US" sz="4400" dirty="0"/>
          </a:p>
        </p:txBody>
      </p:sp>
      <p:sp>
        <p:nvSpPr>
          <p:cNvPr id="5" name="Text 3"/>
          <p:cNvSpPr/>
          <p:nvPr/>
        </p:nvSpPr>
        <p:spPr>
          <a:xfrm>
            <a:off x="502920" y="1783080"/>
            <a:ext cx="8321040" cy="502920"/>
          </a:xfrm>
          <a:prstGeom prst="rect">
            <a:avLst/>
          </a:prstGeom>
          <a:noFill/>
          <a:ln/>
        </p:spPr>
        <p:txBody>
          <a:bodyPr wrap="square" rtlCol="0" anchor="ctr"/>
          <a:lstStyle/>
          <a:p>
            <a:pPr indent="0" marL="0">
              <a:buNone/>
            </a:pPr>
            <a:r>
              <a:rPr lang="en-US" sz="2100" dirty="0">
                <a:solidFill>
                  <a:srgbClr val="00A896"/>
                </a:solidFill>
                <a:latin typeface="Calibri" pitchFamily="34" charset="0"/>
                <a:ea typeface="Calibri" pitchFamily="34" charset="-122"/>
                <a:cs typeface="Calibri" pitchFamily="34" charset="-120"/>
              </a:rPr>
              <a:t>SQL Exploratory Analysis  ·  2010–2019</a:t>
            </a:r>
            <a:endParaRPr lang="en-US" sz="2100" dirty="0"/>
          </a:p>
        </p:txBody>
      </p:sp>
      <p:sp>
        <p:nvSpPr>
          <p:cNvPr id="6" name="Text 4"/>
          <p:cNvSpPr/>
          <p:nvPr/>
        </p:nvSpPr>
        <p:spPr>
          <a:xfrm>
            <a:off x="502920" y="2359152"/>
            <a:ext cx="8321040" cy="347472"/>
          </a:xfrm>
          <a:prstGeom prst="rect">
            <a:avLst/>
          </a:prstGeom>
          <a:noFill/>
          <a:ln/>
        </p:spPr>
        <p:txBody>
          <a:bodyPr wrap="square" rtlCol="0" anchor="ctr"/>
          <a:lstStyle/>
          <a:p>
            <a:pPr indent="0" marL="0">
              <a:buNone/>
            </a:pPr>
            <a:r>
              <a:rPr lang="en-US" sz="1400" dirty="0">
                <a:solidFill>
                  <a:srgbClr val="B0C4D8"/>
                </a:solidFill>
                <a:latin typeface="Calibri" pitchFamily="34" charset="0"/>
                <a:ea typeface="Calibri" pitchFamily="34" charset="-122"/>
                <a:cs typeface="Calibri" pitchFamily="34" charset="-120"/>
              </a:rPr>
              <a:t>Part 2 — SQL Summative Lab</a:t>
            </a:r>
            <a:endParaRPr lang="en-US" sz="1400" dirty="0"/>
          </a:p>
        </p:txBody>
      </p:sp>
      <p:sp>
        <p:nvSpPr>
          <p:cNvPr id="7" name="Shape 5"/>
          <p:cNvSpPr/>
          <p:nvPr/>
        </p:nvSpPr>
        <p:spPr>
          <a:xfrm>
            <a:off x="457200" y="3200400"/>
            <a:ext cx="1965960" cy="1389888"/>
          </a:xfrm>
          <a:prstGeom prst="rect">
            <a:avLst/>
          </a:prstGeom>
          <a:solidFill>
            <a:srgbClr val="1C3A52"/>
          </a:solidFill>
          <a:ln w="19050">
            <a:solidFill>
              <a:srgbClr val="028090"/>
            </a:solidFill>
            <a:prstDash val="solid"/>
          </a:ln>
          <a:effectLst>
            <a:outerShdw sx="100000" sy="100000" kx="0" ky="0" algn="bl" rotWithShape="0" blurRad="127000" dist="38100" dir="8100000">
              <a:srgbClr val="000000">
                <a:alpha val="28000"/>
              </a:srgbClr>
            </a:outerShdw>
          </a:effectLst>
        </p:spPr>
      </p:sp>
      <p:sp>
        <p:nvSpPr>
          <p:cNvPr id="8" name="Text 6"/>
          <p:cNvSpPr/>
          <p:nvPr/>
        </p:nvSpPr>
        <p:spPr>
          <a:xfrm>
            <a:off x="457200" y="3291840"/>
            <a:ext cx="1965960" cy="594360"/>
          </a:xfrm>
          <a:prstGeom prst="rect">
            <a:avLst/>
          </a:prstGeom>
          <a:noFill/>
          <a:ln/>
        </p:spPr>
        <p:txBody>
          <a:bodyPr wrap="square"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145,081</a:t>
            </a:r>
            <a:endParaRPr lang="en-US" sz="2200" dirty="0"/>
          </a:p>
        </p:txBody>
      </p:sp>
      <p:sp>
        <p:nvSpPr>
          <p:cNvPr id="9" name="Text 7"/>
          <p:cNvSpPr/>
          <p:nvPr/>
        </p:nvSpPr>
        <p:spPr>
          <a:xfrm>
            <a:off x="457200" y="3858768"/>
            <a:ext cx="1965960" cy="502920"/>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Movies in Dataset</a:t>
            </a:r>
            <a:endParaRPr lang="en-US" sz="1000" dirty="0"/>
          </a:p>
        </p:txBody>
      </p:sp>
      <p:sp>
        <p:nvSpPr>
          <p:cNvPr id="10" name="Shape 8"/>
          <p:cNvSpPr/>
          <p:nvPr/>
        </p:nvSpPr>
        <p:spPr>
          <a:xfrm>
            <a:off x="2606040" y="3200400"/>
            <a:ext cx="1965960" cy="1389888"/>
          </a:xfrm>
          <a:prstGeom prst="rect">
            <a:avLst/>
          </a:prstGeom>
          <a:solidFill>
            <a:srgbClr val="1C3A52"/>
          </a:solidFill>
          <a:ln w="19050">
            <a:solidFill>
              <a:srgbClr val="028090"/>
            </a:solidFill>
            <a:prstDash val="solid"/>
          </a:ln>
          <a:effectLst>
            <a:outerShdw sx="100000" sy="100000" kx="0" ky="0" algn="bl" rotWithShape="0" blurRad="127000" dist="38100" dir="8100000">
              <a:srgbClr val="000000">
                <a:alpha val="28000"/>
              </a:srgbClr>
            </a:outerShdw>
          </a:effectLst>
        </p:spPr>
      </p:sp>
      <p:sp>
        <p:nvSpPr>
          <p:cNvPr id="11" name="Text 9"/>
          <p:cNvSpPr/>
          <p:nvPr/>
        </p:nvSpPr>
        <p:spPr>
          <a:xfrm>
            <a:off x="2606040" y="3291840"/>
            <a:ext cx="1965960" cy="594360"/>
          </a:xfrm>
          <a:prstGeom prst="rect">
            <a:avLst/>
          </a:prstGeom>
          <a:noFill/>
          <a:ln/>
        </p:spPr>
        <p:txBody>
          <a:bodyPr wrap="square"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8</a:t>
            </a:r>
            <a:endParaRPr lang="en-US" sz="2200" dirty="0"/>
          </a:p>
        </p:txBody>
      </p:sp>
      <p:sp>
        <p:nvSpPr>
          <p:cNvPr id="12" name="Text 10"/>
          <p:cNvSpPr/>
          <p:nvPr/>
        </p:nvSpPr>
        <p:spPr>
          <a:xfrm>
            <a:off x="2606040" y="3858768"/>
            <a:ext cx="1965960" cy="502920"/>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Tables in Database</a:t>
            </a:r>
            <a:endParaRPr lang="en-US" sz="1000" dirty="0"/>
          </a:p>
        </p:txBody>
      </p:sp>
      <p:sp>
        <p:nvSpPr>
          <p:cNvPr id="13" name="Shape 11"/>
          <p:cNvSpPr/>
          <p:nvPr/>
        </p:nvSpPr>
        <p:spPr>
          <a:xfrm>
            <a:off x="4754880" y="3200400"/>
            <a:ext cx="1965960" cy="1389888"/>
          </a:xfrm>
          <a:prstGeom prst="rect">
            <a:avLst/>
          </a:prstGeom>
          <a:solidFill>
            <a:srgbClr val="1C3A52"/>
          </a:solidFill>
          <a:ln w="19050">
            <a:solidFill>
              <a:srgbClr val="028090"/>
            </a:solidFill>
            <a:prstDash val="solid"/>
          </a:ln>
          <a:effectLst>
            <a:outerShdw sx="100000" sy="100000" kx="0" ky="0" algn="bl" rotWithShape="0" blurRad="127000" dist="38100" dir="8100000">
              <a:srgbClr val="000000">
                <a:alpha val="28000"/>
              </a:srgbClr>
            </a:outerShdw>
          </a:effectLst>
        </p:spPr>
      </p:sp>
      <p:sp>
        <p:nvSpPr>
          <p:cNvPr id="14" name="Text 12"/>
          <p:cNvSpPr/>
          <p:nvPr/>
        </p:nvSpPr>
        <p:spPr>
          <a:xfrm>
            <a:off x="4754880" y="3291840"/>
            <a:ext cx="1965960" cy="594360"/>
          </a:xfrm>
          <a:prstGeom prst="rect">
            <a:avLst/>
          </a:prstGeom>
          <a:noFill/>
          <a:ln/>
        </p:spPr>
        <p:txBody>
          <a:bodyPr wrap="square"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2010–2019</a:t>
            </a:r>
            <a:endParaRPr lang="en-US" sz="2200" dirty="0"/>
          </a:p>
        </p:txBody>
      </p:sp>
      <p:sp>
        <p:nvSpPr>
          <p:cNvPr id="15" name="Text 13"/>
          <p:cNvSpPr/>
          <p:nvPr/>
        </p:nvSpPr>
        <p:spPr>
          <a:xfrm>
            <a:off x="4754880" y="3858768"/>
            <a:ext cx="1965960" cy="502920"/>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Time Range</a:t>
            </a:r>
            <a:endParaRPr lang="en-US" sz="1000" dirty="0"/>
          </a:p>
        </p:txBody>
      </p:sp>
      <p:sp>
        <p:nvSpPr>
          <p:cNvPr id="16" name="Shape 14"/>
          <p:cNvSpPr/>
          <p:nvPr/>
        </p:nvSpPr>
        <p:spPr>
          <a:xfrm>
            <a:off x="6903720" y="3200400"/>
            <a:ext cx="1965960" cy="1389888"/>
          </a:xfrm>
          <a:prstGeom prst="rect">
            <a:avLst/>
          </a:prstGeom>
          <a:solidFill>
            <a:srgbClr val="1C3A52"/>
          </a:solidFill>
          <a:ln w="19050">
            <a:solidFill>
              <a:srgbClr val="028090"/>
            </a:solidFill>
            <a:prstDash val="solid"/>
          </a:ln>
          <a:effectLst>
            <a:outerShdw sx="100000" sy="100000" kx="0" ky="0" algn="bl" rotWithShape="0" blurRad="127000" dist="38100" dir="8100000">
              <a:srgbClr val="000000">
                <a:alpha val="28000"/>
              </a:srgbClr>
            </a:outerShdw>
          </a:effectLst>
        </p:spPr>
      </p:sp>
      <p:sp>
        <p:nvSpPr>
          <p:cNvPr id="17" name="Text 15"/>
          <p:cNvSpPr/>
          <p:nvPr/>
        </p:nvSpPr>
        <p:spPr>
          <a:xfrm>
            <a:off x="6903720" y="3291840"/>
            <a:ext cx="1965960" cy="594360"/>
          </a:xfrm>
          <a:prstGeom prst="rect">
            <a:avLst/>
          </a:prstGeom>
          <a:noFill/>
          <a:ln/>
        </p:spPr>
        <p:txBody>
          <a:bodyPr wrap="square"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6903720" y="3858768"/>
            <a:ext cx="1965960" cy="502920"/>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Key Deliverables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9144000" cy="64008"/>
          </a:xfrm>
          <a:prstGeom prst="rect">
            <a:avLst/>
          </a:prstGeom>
          <a:solidFill>
            <a:srgbClr val="00A896"/>
          </a:solidFill>
          <a:ln w="12700">
            <a:solidFill>
              <a:srgbClr val="00A896"/>
            </a:solidFill>
            <a:prstDash val="solid"/>
          </a:ln>
        </p:spPr>
      </p:sp>
      <p:sp>
        <p:nvSpPr>
          <p:cNvPr id="4" name="Text 2"/>
          <p:cNvSpPr/>
          <p:nvPr/>
        </p:nvSpPr>
        <p:spPr>
          <a:xfrm>
            <a:off x="320040" y="155448"/>
            <a:ext cx="530352" cy="621792"/>
          </a:xfrm>
          <a:prstGeom prst="rect">
            <a:avLst/>
          </a:prstGeom>
          <a:noFill/>
          <a:ln/>
        </p:spPr>
        <p:txBody>
          <a:bodyPr wrap="square"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01</a:t>
            </a:r>
            <a:endParaRPr lang="en-US" sz="2200" dirty="0"/>
          </a:p>
        </p:txBody>
      </p:sp>
      <p:sp>
        <p:nvSpPr>
          <p:cNvPr id="5" name="Text 3"/>
          <p:cNvSpPr/>
          <p:nvPr/>
        </p:nvSpPr>
        <p:spPr>
          <a:xfrm>
            <a:off x="960120" y="164592"/>
            <a:ext cx="7818120" cy="59436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Initial Data Exploration Findings</a:t>
            </a:r>
            <a:endParaRPr lang="en-US" sz="2700" dirty="0"/>
          </a:p>
        </p:txBody>
      </p:sp>
      <p:sp>
        <p:nvSpPr>
          <p:cNvPr id="6" name="Shape 4"/>
          <p:cNvSpPr/>
          <p:nvPr/>
        </p:nvSpPr>
        <p:spPr>
          <a:xfrm>
            <a:off x="320040" y="1024128"/>
            <a:ext cx="4160520" cy="1664208"/>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7" name="Shape 5"/>
          <p:cNvSpPr/>
          <p:nvPr/>
        </p:nvSpPr>
        <p:spPr>
          <a:xfrm>
            <a:off x="320040" y="1024128"/>
            <a:ext cx="4160520" cy="54864"/>
          </a:xfrm>
          <a:prstGeom prst="rect">
            <a:avLst/>
          </a:prstGeom>
          <a:solidFill>
            <a:srgbClr val="028090"/>
          </a:solidFill>
          <a:ln w="12700">
            <a:solidFill>
              <a:srgbClr val="028090"/>
            </a:solidFill>
            <a:prstDash val="solid"/>
          </a:ln>
        </p:spPr>
      </p:sp>
      <p:sp>
        <p:nvSpPr>
          <p:cNvPr id="8" name="Text 6"/>
          <p:cNvSpPr/>
          <p:nvPr/>
        </p:nvSpPr>
        <p:spPr>
          <a:xfrm>
            <a:off x="475488" y="1143000"/>
            <a:ext cx="3840480" cy="365760"/>
          </a:xfrm>
          <a:prstGeom prst="rect">
            <a:avLst/>
          </a:prstGeom>
          <a:noFill/>
          <a:ln/>
        </p:spPr>
        <p:txBody>
          <a:bodyPr wrap="square" lIns="0" tIns="0" rIns="0" bIns="0"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  Dataset Scale</a:t>
            </a:r>
            <a:endParaRPr lang="en-US" sz="1250" dirty="0"/>
          </a:p>
        </p:txBody>
      </p:sp>
      <p:sp>
        <p:nvSpPr>
          <p:cNvPr id="9" name="Text 7"/>
          <p:cNvSpPr/>
          <p:nvPr/>
        </p:nvSpPr>
        <p:spPr>
          <a:xfrm>
            <a:off x="475488" y="1536192"/>
            <a:ext cx="3840480" cy="105156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145,081 movies in scope (2010–2019). Production peaked in 2017 (~17,504 films/year). 2019 data is incomplete (~8,379 entries) — excluded per assignment instructions.</a:t>
            </a:r>
            <a:endParaRPr lang="en-US" sz="1050" dirty="0"/>
          </a:p>
        </p:txBody>
      </p:sp>
      <p:sp>
        <p:nvSpPr>
          <p:cNvPr id="10" name="Shape 8"/>
          <p:cNvSpPr/>
          <p:nvPr/>
        </p:nvSpPr>
        <p:spPr>
          <a:xfrm>
            <a:off x="4663440" y="1024128"/>
            <a:ext cx="4160520" cy="1664208"/>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11" name="Shape 9"/>
          <p:cNvSpPr/>
          <p:nvPr/>
        </p:nvSpPr>
        <p:spPr>
          <a:xfrm>
            <a:off x="4663440" y="1024128"/>
            <a:ext cx="4160520" cy="54864"/>
          </a:xfrm>
          <a:prstGeom prst="rect">
            <a:avLst/>
          </a:prstGeom>
          <a:solidFill>
            <a:srgbClr val="00A896"/>
          </a:solidFill>
          <a:ln w="12700">
            <a:solidFill>
              <a:srgbClr val="00A896"/>
            </a:solidFill>
            <a:prstDash val="solid"/>
          </a:ln>
        </p:spPr>
      </p:sp>
      <p:sp>
        <p:nvSpPr>
          <p:cNvPr id="12" name="Text 10"/>
          <p:cNvSpPr/>
          <p:nvPr/>
        </p:nvSpPr>
        <p:spPr>
          <a:xfrm>
            <a:off x="4818888" y="1143000"/>
            <a:ext cx="3840480" cy="365760"/>
          </a:xfrm>
          <a:prstGeom prst="rect">
            <a:avLst/>
          </a:prstGeom>
          <a:noFill/>
          <a:ln/>
        </p:spPr>
        <p:txBody>
          <a:bodyPr wrap="square" lIns="0" tIns="0" rIns="0" bIns="0"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  Genre Landscape</a:t>
            </a:r>
            <a:endParaRPr lang="en-US" sz="1250" dirty="0"/>
          </a:p>
        </p:txBody>
      </p:sp>
      <p:sp>
        <p:nvSpPr>
          <p:cNvPr id="13" name="Text 11"/>
          <p:cNvSpPr/>
          <p:nvPr/>
        </p:nvSpPr>
        <p:spPr>
          <a:xfrm>
            <a:off x="4818888" y="1536192"/>
            <a:ext cx="3840480" cy="105156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Drama dominates in volume (11,612 films). Documentary has the highest average rating (7.29) but draws only 173 average votes per film. Comedy (5,613 films) attracts the most audience votes at 1,217 per movie.</a:t>
            </a:r>
            <a:endParaRPr lang="en-US" sz="1050" dirty="0"/>
          </a:p>
        </p:txBody>
      </p:sp>
      <p:sp>
        <p:nvSpPr>
          <p:cNvPr id="14" name="Shape 12"/>
          <p:cNvSpPr/>
          <p:nvPr/>
        </p:nvSpPr>
        <p:spPr>
          <a:xfrm>
            <a:off x="320040" y="2816352"/>
            <a:ext cx="4160520" cy="1664208"/>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15" name="Shape 13"/>
          <p:cNvSpPr/>
          <p:nvPr/>
        </p:nvSpPr>
        <p:spPr>
          <a:xfrm>
            <a:off x="320040" y="2816352"/>
            <a:ext cx="4160520" cy="54864"/>
          </a:xfrm>
          <a:prstGeom prst="rect">
            <a:avLst/>
          </a:prstGeom>
          <a:solidFill>
            <a:srgbClr val="F5A623"/>
          </a:solidFill>
          <a:ln w="12700">
            <a:solidFill>
              <a:srgbClr val="F5A623"/>
            </a:solidFill>
            <a:prstDash val="solid"/>
          </a:ln>
        </p:spPr>
      </p:sp>
      <p:sp>
        <p:nvSpPr>
          <p:cNvPr id="16" name="Text 14"/>
          <p:cNvSpPr/>
          <p:nvPr/>
        </p:nvSpPr>
        <p:spPr>
          <a:xfrm>
            <a:off x="475488" y="2935224"/>
            <a:ext cx="3840480" cy="365760"/>
          </a:xfrm>
          <a:prstGeom prst="rect">
            <a:avLst/>
          </a:prstGeom>
          <a:noFill/>
          <a:ln/>
        </p:spPr>
        <p:txBody>
          <a:bodyPr wrap="square" lIns="0" tIns="0" rIns="0" bIns="0"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  Key Pattern — Ratings ≠ Engagement</a:t>
            </a:r>
            <a:endParaRPr lang="en-US" sz="1250" dirty="0"/>
          </a:p>
        </p:txBody>
      </p:sp>
      <p:sp>
        <p:nvSpPr>
          <p:cNvPr id="17" name="Text 15"/>
          <p:cNvSpPr/>
          <p:nvPr/>
        </p:nvSpPr>
        <p:spPr>
          <a:xfrm>
            <a:off x="475488" y="3328416"/>
            <a:ext cx="3840480" cy="105156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High critical ratings and high audience engagement do NOT move together. Documentary is highest-rated but least-watched; Comedy rates lower yet drives 7× more votes. This divergence drives the business question.</a:t>
            </a:r>
            <a:endParaRPr lang="en-US" sz="1050" dirty="0"/>
          </a:p>
        </p:txBody>
      </p:sp>
      <p:sp>
        <p:nvSpPr>
          <p:cNvPr id="18" name="Shape 16"/>
          <p:cNvSpPr/>
          <p:nvPr/>
        </p:nvSpPr>
        <p:spPr>
          <a:xfrm>
            <a:off x="4663440" y="2816352"/>
            <a:ext cx="4160520" cy="1664208"/>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19" name="Shape 17"/>
          <p:cNvSpPr/>
          <p:nvPr/>
        </p:nvSpPr>
        <p:spPr>
          <a:xfrm>
            <a:off x="4663440" y="2816352"/>
            <a:ext cx="4160520" cy="54864"/>
          </a:xfrm>
          <a:prstGeom prst="rect">
            <a:avLst/>
          </a:prstGeom>
          <a:solidFill>
            <a:srgbClr val="C0392B"/>
          </a:solidFill>
          <a:ln w="12700">
            <a:solidFill>
              <a:srgbClr val="C0392B"/>
            </a:solidFill>
            <a:prstDash val="solid"/>
          </a:ln>
        </p:spPr>
      </p:sp>
      <p:sp>
        <p:nvSpPr>
          <p:cNvPr id="20" name="Text 18"/>
          <p:cNvSpPr/>
          <p:nvPr/>
        </p:nvSpPr>
        <p:spPr>
          <a:xfrm>
            <a:off x="4818888" y="2935224"/>
            <a:ext cx="3840480" cy="365760"/>
          </a:xfrm>
          <a:prstGeom prst="rect">
            <a:avLst/>
          </a:prstGeom>
          <a:noFill/>
          <a:ln/>
        </p:spPr>
        <p:txBody>
          <a:bodyPr wrap="square" lIns="0" tIns="0" rIns="0" bIns="0"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  Horror's Growth Trend</a:t>
            </a:r>
            <a:endParaRPr lang="en-US" sz="1250" dirty="0"/>
          </a:p>
        </p:txBody>
      </p:sp>
      <p:sp>
        <p:nvSpPr>
          <p:cNvPr id="21" name="Text 19"/>
          <p:cNvSpPr/>
          <p:nvPr/>
        </p:nvSpPr>
        <p:spPr>
          <a:xfrm>
            <a:off x="4818888" y="3328416"/>
            <a:ext cx="3840480" cy="105156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Horror nearly doubled in production from 283 films (2010) to 602 films (2018) — a +113% increase — showing accelerating commercial interest despite lower average ratings (4.84) and 589 avg votes per film.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9144000" cy="64008"/>
          </a:xfrm>
          <a:prstGeom prst="rect">
            <a:avLst/>
          </a:prstGeom>
          <a:solidFill>
            <a:srgbClr val="F5A623"/>
          </a:solidFill>
          <a:ln w="12700">
            <a:solidFill>
              <a:srgbClr val="F5A623"/>
            </a:solidFill>
            <a:prstDash val="solid"/>
          </a:ln>
        </p:spPr>
      </p:sp>
      <p:sp>
        <p:nvSpPr>
          <p:cNvPr id="4" name="Text 2"/>
          <p:cNvSpPr/>
          <p:nvPr/>
        </p:nvSpPr>
        <p:spPr>
          <a:xfrm>
            <a:off x="320040" y="155448"/>
            <a:ext cx="530352" cy="621792"/>
          </a:xfrm>
          <a:prstGeom prst="rect">
            <a:avLst/>
          </a:prstGeom>
          <a:noFill/>
          <a:ln/>
        </p:spPr>
        <p:txBody>
          <a:bodyPr wrap="square" rtlCol="0" anchor="ctr"/>
          <a:lstStyle/>
          <a:p>
            <a:pPr algn="ctr" indent="0" marL="0">
              <a:buNone/>
            </a:pPr>
            <a:r>
              <a:rPr lang="en-US" sz="2200" b="1" dirty="0">
                <a:solidFill>
                  <a:srgbClr val="F5A623"/>
                </a:solidFill>
                <a:latin typeface="Calibri" pitchFamily="34" charset="0"/>
                <a:ea typeface="Calibri" pitchFamily="34" charset="-122"/>
                <a:cs typeface="Calibri" pitchFamily="34" charset="-120"/>
              </a:rPr>
              <a:t>02</a:t>
            </a:r>
            <a:endParaRPr lang="en-US" sz="2200" dirty="0"/>
          </a:p>
        </p:txBody>
      </p:sp>
      <p:sp>
        <p:nvSpPr>
          <p:cNvPr id="5" name="Text 3"/>
          <p:cNvSpPr/>
          <p:nvPr/>
        </p:nvSpPr>
        <p:spPr>
          <a:xfrm>
            <a:off x="960120" y="164592"/>
            <a:ext cx="7818120" cy="59436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Business Question</a:t>
            </a:r>
            <a:endParaRPr lang="en-US" sz="2700" dirty="0"/>
          </a:p>
        </p:txBody>
      </p:sp>
      <p:pic>
        <p:nvPicPr>
          <p:cNvPr id="6" name="Image 0" descr="preencoded.png">    </p:cNvPr>
          <p:cNvPicPr>
            <a:picLocks noChangeAspect="1"/>
          </p:cNvPicPr>
          <p:nvPr/>
        </p:nvPicPr>
        <p:blipFill>
          <a:blip r:embed="rId1"/>
          <a:stretch>
            <a:fillRect/>
          </a:stretch>
        </p:blipFill>
        <p:spPr>
          <a:xfrm>
            <a:off x="164592" y="960120"/>
            <a:ext cx="5852160" cy="3931920"/>
          </a:xfrm>
          <a:prstGeom prst="rect">
            <a:avLst/>
          </a:prstGeom>
        </p:spPr>
      </p:pic>
      <p:sp>
        <p:nvSpPr>
          <p:cNvPr id="7" name="Shape 4"/>
          <p:cNvSpPr/>
          <p:nvPr/>
        </p:nvSpPr>
        <p:spPr>
          <a:xfrm>
            <a:off x="6172200" y="960120"/>
            <a:ext cx="2743200" cy="3931920"/>
          </a:xfrm>
          <a:prstGeom prst="rect">
            <a:avLst/>
          </a:prstGeom>
          <a:solidFill>
            <a:srgbClr val="1C3A52"/>
          </a:solidFill>
          <a:ln w="19050">
            <a:solidFill>
              <a:srgbClr val="F5A623"/>
            </a:solidFill>
            <a:prstDash val="solid"/>
          </a:ln>
        </p:spPr>
      </p:sp>
      <p:sp>
        <p:nvSpPr>
          <p:cNvPr id="8" name="Text 5"/>
          <p:cNvSpPr/>
          <p:nvPr/>
        </p:nvSpPr>
        <p:spPr>
          <a:xfrm>
            <a:off x="6327648" y="1078992"/>
            <a:ext cx="2423160" cy="347472"/>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The Question</a:t>
            </a:r>
            <a:endParaRPr lang="en-US" sz="1200" dirty="0"/>
          </a:p>
        </p:txBody>
      </p:sp>
      <p:sp>
        <p:nvSpPr>
          <p:cNvPr id="9" name="Text 6"/>
          <p:cNvSpPr/>
          <p:nvPr/>
        </p:nvSpPr>
        <p:spPr>
          <a:xfrm>
            <a:off x="6327648" y="1463040"/>
            <a:ext cx="2423160" cy="14630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For a new production studio entering the market, which single genre offers the best balance of audience engagement (average votes per film) and critical reception (average rating) — and does Horror's accelerating post-2015 production growth signal it is an emerging commercially undervalued opportunity?</a:t>
            </a:r>
            <a:endParaRPr lang="en-US" sz="1050" dirty="0"/>
          </a:p>
        </p:txBody>
      </p:sp>
      <p:sp>
        <p:nvSpPr>
          <p:cNvPr id="10" name="Shape 7"/>
          <p:cNvSpPr/>
          <p:nvPr/>
        </p:nvSpPr>
        <p:spPr>
          <a:xfrm>
            <a:off x="6327648" y="2999232"/>
            <a:ext cx="2423160" cy="36576"/>
          </a:xfrm>
          <a:prstGeom prst="rect">
            <a:avLst/>
          </a:prstGeom>
          <a:solidFill>
            <a:srgbClr val="F5A623"/>
          </a:solidFill>
          <a:ln w="12700">
            <a:solidFill>
              <a:srgbClr val="F5A623"/>
            </a:solidFill>
            <a:prstDash val="solid"/>
          </a:ln>
        </p:spPr>
      </p:sp>
      <p:sp>
        <p:nvSpPr>
          <p:cNvPr id="11" name="Text 8"/>
          <p:cNvSpPr/>
          <p:nvPr/>
        </p:nvSpPr>
        <p:spPr>
          <a:xfrm>
            <a:off x="6327648" y="3090672"/>
            <a:ext cx="2423160" cy="320040"/>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Stems from:</a:t>
            </a:r>
            <a:endParaRPr lang="en-US" sz="1100" dirty="0"/>
          </a:p>
        </p:txBody>
      </p:sp>
      <p:sp>
        <p:nvSpPr>
          <p:cNvPr id="12" name="Shape 9"/>
          <p:cNvSpPr/>
          <p:nvPr/>
        </p:nvSpPr>
        <p:spPr>
          <a:xfrm>
            <a:off x="6327648" y="3493008"/>
            <a:ext cx="82296" cy="201168"/>
          </a:xfrm>
          <a:prstGeom prst="rect">
            <a:avLst/>
          </a:prstGeom>
          <a:solidFill>
            <a:srgbClr val="00A896"/>
          </a:solidFill>
          <a:ln w="12700">
            <a:solidFill>
              <a:srgbClr val="00A896"/>
            </a:solidFill>
            <a:prstDash val="solid"/>
          </a:ln>
        </p:spPr>
      </p:sp>
      <p:sp>
        <p:nvSpPr>
          <p:cNvPr id="13" name="Text 10"/>
          <p:cNvSpPr/>
          <p:nvPr/>
        </p:nvSpPr>
        <p:spPr>
          <a:xfrm>
            <a:off x="6473952" y="3474720"/>
            <a:ext cx="2240280" cy="347472"/>
          </a:xfrm>
          <a:prstGeom prst="rect">
            <a:avLst/>
          </a:prstGeom>
          <a:noFill/>
          <a:ln/>
        </p:spPr>
        <p:txBody>
          <a:bodyPr wrap="square" lIns="0" tIns="0" rIns="0" bIns="0" rtlCol="0" anchor="ctr"/>
          <a:lstStyle/>
          <a:p>
            <a:pPr indent="0" marL="0">
              <a:buNone/>
            </a:pPr>
            <a:r>
              <a:rPr lang="en-US" sz="900" dirty="0">
                <a:solidFill>
                  <a:srgbClr val="B0C4D8"/>
                </a:solidFill>
                <a:latin typeface="Calibri" pitchFamily="34" charset="0"/>
                <a:ea typeface="Calibri" pitchFamily="34" charset="-122"/>
                <a:cs typeface="Calibri" pitchFamily="34" charset="-120"/>
              </a:rPr>
              <a:t>Comedy: 1,217 avg votes — highest engagement</a:t>
            </a:r>
            <a:endParaRPr lang="en-US" sz="900" dirty="0"/>
          </a:p>
        </p:txBody>
      </p:sp>
      <p:sp>
        <p:nvSpPr>
          <p:cNvPr id="14" name="Shape 11"/>
          <p:cNvSpPr/>
          <p:nvPr/>
        </p:nvSpPr>
        <p:spPr>
          <a:xfrm>
            <a:off x="6327648" y="3886200"/>
            <a:ext cx="82296" cy="201168"/>
          </a:xfrm>
          <a:prstGeom prst="rect">
            <a:avLst/>
          </a:prstGeom>
          <a:solidFill>
            <a:srgbClr val="00A896"/>
          </a:solidFill>
          <a:ln w="12700">
            <a:solidFill>
              <a:srgbClr val="00A896"/>
            </a:solidFill>
            <a:prstDash val="solid"/>
          </a:ln>
        </p:spPr>
      </p:sp>
      <p:sp>
        <p:nvSpPr>
          <p:cNvPr id="15" name="Text 12"/>
          <p:cNvSpPr/>
          <p:nvPr/>
        </p:nvSpPr>
        <p:spPr>
          <a:xfrm>
            <a:off x="6473952" y="3867912"/>
            <a:ext cx="2240280" cy="347472"/>
          </a:xfrm>
          <a:prstGeom prst="rect">
            <a:avLst/>
          </a:prstGeom>
          <a:noFill/>
          <a:ln/>
        </p:spPr>
        <p:txBody>
          <a:bodyPr wrap="square" lIns="0" tIns="0" rIns="0" bIns="0" rtlCol="0" anchor="ctr"/>
          <a:lstStyle/>
          <a:p>
            <a:pPr indent="0" marL="0">
              <a:buNone/>
            </a:pPr>
            <a:r>
              <a:rPr lang="en-US" sz="900" dirty="0">
                <a:solidFill>
                  <a:srgbClr val="B0C4D8"/>
                </a:solidFill>
                <a:latin typeface="Calibri" pitchFamily="34" charset="0"/>
                <a:ea typeface="Calibri" pitchFamily="34" charset="-122"/>
                <a:cs typeface="Calibri" pitchFamily="34" charset="-120"/>
              </a:rPr>
              <a:t>Documentary: 7.29 avg rating — highest rated, only 173 votes</a:t>
            </a:r>
            <a:endParaRPr lang="en-US" sz="900" dirty="0"/>
          </a:p>
        </p:txBody>
      </p:sp>
      <p:sp>
        <p:nvSpPr>
          <p:cNvPr id="16" name="Shape 13"/>
          <p:cNvSpPr/>
          <p:nvPr/>
        </p:nvSpPr>
        <p:spPr>
          <a:xfrm>
            <a:off x="6327648" y="4279392"/>
            <a:ext cx="82296" cy="201168"/>
          </a:xfrm>
          <a:prstGeom prst="rect">
            <a:avLst/>
          </a:prstGeom>
          <a:solidFill>
            <a:srgbClr val="00A896"/>
          </a:solidFill>
          <a:ln w="12700">
            <a:solidFill>
              <a:srgbClr val="00A896"/>
            </a:solidFill>
            <a:prstDash val="solid"/>
          </a:ln>
        </p:spPr>
      </p:sp>
      <p:sp>
        <p:nvSpPr>
          <p:cNvPr id="17" name="Text 14"/>
          <p:cNvSpPr/>
          <p:nvPr/>
        </p:nvSpPr>
        <p:spPr>
          <a:xfrm>
            <a:off x="6473952" y="4261104"/>
            <a:ext cx="2240280" cy="347472"/>
          </a:xfrm>
          <a:prstGeom prst="rect">
            <a:avLst/>
          </a:prstGeom>
          <a:noFill/>
          <a:ln/>
        </p:spPr>
        <p:txBody>
          <a:bodyPr wrap="square" lIns="0" tIns="0" rIns="0" bIns="0" rtlCol="0" anchor="ctr"/>
          <a:lstStyle/>
          <a:p>
            <a:pPr indent="0" marL="0">
              <a:buNone/>
            </a:pPr>
            <a:r>
              <a:rPr lang="en-US" sz="900" dirty="0">
                <a:solidFill>
                  <a:srgbClr val="B0C4D8"/>
                </a:solidFill>
                <a:latin typeface="Calibri" pitchFamily="34" charset="0"/>
                <a:ea typeface="Calibri" pitchFamily="34" charset="-122"/>
                <a:cs typeface="Calibri" pitchFamily="34" charset="-120"/>
              </a:rPr>
              <a:t>Horror: 589 avg votes + near-doubling of output (2010→2018)</a:t>
            </a:r>
            <a:endParaRPr lang="en-US" sz="900" dirty="0"/>
          </a:p>
        </p:txBody>
      </p:sp>
      <p:sp>
        <p:nvSpPr>
          <p:cNvPr id="18" name="Shape 15"/>
          <p:cNvSpPr/>
          <p:nvPr/>
        </p:nvSpPr>
        <p:spPr>
          <a:xfrm>
            <a:off x="6327648" y="4672584"/>
            <a:ext cx="82296" cy="201168"/>
          </a:xfrm>
          <a:prstGeom prst="rect">
            <a:avLst/>
          </a:prstGeom>
          <a:solidFill>
            <a:srgbClr val="00A896"/>
          </a:solidFill>
          <a:ln w="12700">
            <a:solidFill>
              <a:srgbClr val="00A896"/>
            </a:solidFill>
            <a:prstDash val="solid"/>
          </a:ln>
        </p:spPr>
      </p:sp>
      <p:sp>
        <p:nvSpPr>
          <p:cNvPr id="19" name="Text 16"/>
          <p:cNvSpPr/>
          <p:nvPr/>
        </p:nvSpPr>
        <p:spPr>
          <a:xfrm>
            <a:off x="6473952" y="4654296"/>
            <a:ext cx="2240280" cy="347472"/>
          </a:xfrm>
          <a:prstGeom prst="rect">
            <a:avLst/>
          </a:prstGeom>
          <a:noFill/>
          <a:ln/>
        </p:spPr>
        <p:txBody>
          <a:bodyPr wrap="square" lIns="0" tIns="0" rIns="0" bIns="0" rtlCol="0" anchor="ctr"/>
          <a:lstStyle/>
          <a:p>
            <a:pPr indent="0" marL="0">
              <a:buNone/>
            </a:pPr>
            <a:r>
              <a:rPr lang="en-US" sz="900" dirty="0">
                <a:solidFill>
                  <a:srgbClr val="B0C4D8"/>
                </a:solidFill>
                <a:latin typeface="Calibri" pitchFamily="34" charset="0"/>
                <a:ea typeface="Calibri" pitchFamily="34" charset="-122"/>
                <a:cs typeface="Calibri" pitchFamily="34" charset="-120"/>
              </a:rPr>
              <a:t>Drama: best balance — 6.49 rating + 723 avg votes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9144000" cy="64008"/>
          </a:xfrm>
          <a:prstGeom prst="rect">
            <a:avLst/>
          </a:prstGeom>
          <a:solidFill>
            <a:srgbClr val="00A896"/>
          </a:solidFill>
          <a:ln w="12700">
            <a:solidFill>
              <a:srgbClr val="00A896"/>
            </a:solidFill>
            <a:prstDash val="solid"/>
          </a:ln>
        </p:spPr>
      </p:sp>
      <p:sp>
        <p:nvSpPr>
          <p:cNvPr id="4" name="Text 2"/>
          <p:cNvSpPr/>
          <p:nvPr/>
        </p:nvSpPr>
        <p:spPr>
          <a:xfrm>
            <a:off x="320040" y="155448"/>
            <a:ext cx="530352" cy="621792"/>
          </a:xfrm>
          <a:prstGeom prst="rect">
            <a:avLst/>
          </a:prstGeom>
          <a:noFill/>
          <a:ln/>
        </p:spPr>
        <p:txBody>
          <a:bodyPr wrap="square"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03</a:t>
            </a:r>
            <a:endParaRPr lang="en-US" sz="2200" dirty="0"/>
          </a:p>
        </p:txBody>
      </p:sp>
      <p:sp>
        <p:nvSpPr>
          <p:cNvPr id="5" name="Text 3"/>
          <p:cNvSpPr/>
          <p:nvPr/>
        </p:nvSpPr>
        <p:spPr>
          <a:xfrm>
            <a:off x="960120" y="164592"/>
            <a:ext cx="7818120" cy="59436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Data Cleaning Tasks Identified</a:t>
            </a:r>
            <a:endParaRPr lang="en-US" sz="2700" dirty="0"/>
          </a:p>
        </p:txBody>
      </p:sp>
      <p:sp>
        <p:nvSpPr>
          <p:cNvPr id="6" name="Shape 4"/>
          <p:cNvSpPr/>
          <p:nvPr/>
        </p:nvSpPr>
        <p:spPr>
          <a:xfrm>
            <a:off x="274320" y="1005840"/>
            <a:ext cx="2724912" cy="1234440"/>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7" name="Shape 5"/>
          <p:cNvSpPr/>
          <p:nvPr/>
        </p:nvSpPr>
        <p:spPr>
          <a:xfrm>
            <a:off x="274320" y="1005840"/>
            <a:ext cx="2724912" cy="45720"/>
          </a:xfrm>
          <a:prstGeom prst="rect">
            <a:avLst/>
          </a:prstGeom>
          <a:solidFill>
            <a:srgbClr val="C0392B"/>
          </a:solidFill>
          <a:ln w="12700">
            <a:solidFill>
              <a:srgbClr val="C0392B"/>
            </a:solidFill>
            <a:prstDash val="solid"/>
          </a:ln>
        </p:spPr>
      </p:sp>
      <p:sp>
        <p:nvSpPr>
          <p:cNvPr id="8" name="Shape 6"/>
          <p:cNvSpPr/>
          <p:nvPr/>
        </p:nvSpPr>
        <p:spPr>
          <a:xfrm>
            <a:off x="384048" y="1097280"/>
            <a:ext cx="347472" cy="347472"/>
          </a:xfrm>
          <a:prstGeom prst="rect">
            <a:avLst/>
          </a:prstGeom>
          <a:solidFill>
            <a:srgbClr val="C0392B"/>
          </a:solidFill>
          <a:ln w="12700">
            <a:solidFill>
              <a:srgbClr val="C0392B"/>
            </a:solidFill>
            <a:prstDash val="solid"/>
          </a:ln>
        </p:spPr>
      </p:sp>
      <p:sp>
        <p:nvSpPr>
          <p:cNvPr id="9" name="Text 7"/>
          <p:cNvSpPr/>
          <p:nvPr/>
        </p:nvSpPr>
        <p:spPr>
          <a:xfrm>
            <a:off x="384048" y="1097280"/>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10" name="Text 8"/>
          <p:cNvSpPr/>
          <p:nvPr/>
        </p:nvSpPr>
        <p:spPr>
          <a:xfrm>
            <a:off x="795528" y="1097280"/>
            <a:ext cx="2084832"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Null runtime_minutes</a:t>
            </a:r>
            <a:endParaRPr lang="en-US" sz="1050" dirty="0"/>
          </a:p>
        </p:txBody>
      </p:sp>
      <p:sp>
        <p:nvSpPr>
          <p:cNvPr id="11" name="Text 9"/>
          <p:cNvSpPr/>
          <p:nvPr/>
        </p:nvSpPr>
        <p:spPr>
          <a:xfrm>
            <a:off x="393192" y="1481328"/>
            <a:ext cx="2496312" cy="7132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30,765 records (21.2%) missing. Exclude via IS NOT NULL. If filling needed, use genre-median — document the strategy.</a:t>
            </a:r>
            <a:endParaRPr lang="en-US" sz="950" dirty="0"/>
          </a:p>
        </p:txBody>
      </p:sp>
      <p:sp>
        <p:nvSpPr>
          <p:cNvPr id="12" name="Shape 10"/>
          <p:cNvSpPr/>
          <p:nvPr/>
        </p:nvSpPr>
        <p:spPr>
          <a:xfrm>
            <a:off x="3182112" y="1005840"/>
            <a:ext cx="2724912" cy="1234440"/>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13" name="Shape 11"/>
          <p:cNvSpPr/>
          <p:nvPr/>
        </p:nvSpPr>
        <p:spPr>
          <a:xfrm>
            <a:off x="3182112" y="1005840"/>
            <a:ext cx="2724912" cy="45720"/>
          </a:xfrm>
          <a:prstGeom prst="rect">
            <a:avLst/>
          </a:prstGeom>
          <a:solidFill>
            <a:srgbClr val="C0392B"/>
          </a:solidFill>
          <a:ln w="12700">
            <a:solidFill>
              <a:srgbClr val="C0392B"/>
            </a:solidFill>
            <a:prstDash val="solid"/>
          </a:ln>
        </p:spPr>
      </p:sp>
      <p:sp>
        <p:nvSpPr>
          <p:cNvPr id="14" name="Shape 12"/>
          <p:cNvSpPr/>
          <p:nvPr/>
        </p:nvSpPr>
        <p:spPr>
          <a:xfrm>
            <a:off x="3291840" y="1097280"/>
            <a:ext cx="347472" cy="347472"/>
          </a:xfrm>
          <a:prstGeom prst="rect">
            <a:avLst/>
          </a:prstGeom>
          <a:solidFill>
            <a:srgbClr val="C0392B"/>
          </a:solidFill>
          <a:ln w="12700">
            <a:solidFill>
              <a:srgbClr val="C0392B"/>
            </a:solidFill>
            <a:prstDash val="solid"/>
          </a:ln>
        </p:spPr>
      </p:sp>
      <p:sp>
        <p:nvSpPr>
          <p:cNvPr id="15" name="Text 13"/>
          <p:cNvSpPr/>
          <p:nvPr/>
        </p:nvSpPr>
        <p:spPr>
          <a:xfrm>
            <a:off x="3291840" y="1097280"/>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6" name="Text 14"/>
          <p:cNvSpPr/>
          <p:nvPr/>
        </p:nvSpPr>
        <p:spPr>
          <a:xfrm>
            <a:off x="3703320" y="1097280"/>
            <a:ext cx="2084832"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Null genres</a:t>
            </a:r>
            <a:endParaRPr lang="en-US" sz="1050" dirty="0"/>
          </a:p>
        </p:txBody>
      </p:sp>
      <p:sp>
        <p:nvSpPr>
          <p:cNvPr id="17" name="Text 15"/>
          <p:cNvSpPr/>
          <p:nvPr/>
        </p:nvSpPr>
        <p:spPr>
          <a:xfrm>
            <a:off x="3300984" y="1481328"/>
            <a:ext cx="2496312" cy="7132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5,359 records (3.7%) missing genre labels. Must be excluded from all genre-level queries to prevent distortion of aggregates.</a:t>
            </a:r>
            <a:endParaRPr lang="en-US" sz="950" dirty="0"/>
          </a:p>
        </p:txBody>
      </p:sp>
      <p:sp>
        <p:nvSpPr>
          <p:cNvPr id="18" name="Shape 16"/>
          <p:cNvSpPr/>
          <p:nvPr/>
        </p:nvSpPr>
        <p:spPr>
          <a:xfrm>
            <a:off x="6089904" y="1005840"/>
            <a:ext cx="2724912" cy="1234440"/>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19" name="Shape 17"/>
          <p:cNvSpPr/>
          <p:nvPr/>
        </p:nvSpPr>
        <p:spPr>
          <a:xfrm>
            <a:off x="6089904" y="1005840"/>
            <a:ext cx="2724912" cy="45720"/>
          </a:xfrm>
          <a:prstGeom prst="rect">
            <a:avLst/>
          </a:prstGeom>
          <a:solidFill>
            <a:srgbClr val="C0392B"/>
          </a:solidFill>
          <a:ln w="12700">
            <a:solidFill>
              <a:srgbClr val="C0392B"/>
            </a:solidFill>
            <a:prstDash val="solid"/>
          </a:ln>
        </p:spPr>
      </p:sp>
      <p:sp>
        <p:nvSpPr>
          <p:cNvPr id="20" name="Shape 18"/>
          <p:cNvSpPr/>
          <p:nvPr/>
        </p:nvSpPr>
        <p:spPr>
          <a:xfrm>
            <a:off x="6199632" y="1097280"/>
            <a:ext cx="347472" cy="347472"/>
          </a:xfrm>
          <a:prstGeom prst="rect">
            <a:avLst/>
          </a:prstGeom>
          <a:solidFill>
            <a:srgbClr val="C0392B"/>
          </a:solidFill>
          <a:ln w="12700">
            <a:solidFill>
              <a:srgbClr val="C0392B"/>
            </a:solidFill>
            <a:prstDash val="solid"/>
          </a:ln>
        </p:spPr>
      </p:sp>
      <p:sp>
        <p:nvSpPr>
          <p:cNvPr id="21" name="Text 19"/>
          <p:cNvSpPr/>
          <p:nvPr/>
        </p:nvSpPr>
        <p:spPr>
          <a:xfrm>
            <a:off x="6199632" y="1097280"/>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22" name="Text 20"/>
          <p:cNvSpPr/>
          <p:nvPr/>
        </p:nvSpPr>
        <p:spPr>
          <a:xfrm>
            <a:off x="6611112" y="1097280"/>
            <a:ext cx="2084832"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Null birth_year / death_year</a:t>
            </a:r>
            <a:endParaRPr lang="en-US" sz="1050" dirty="0"/>
          </a:p>
        </p:txBody>
      </p:sp>
      <p:sp>
        <p:nvSpPr>
          <p:cNvPr id="23" name="Text 21"/>
          <p:cNvSpPr/>
          <p:nvPr/>
        </p:nvSpPr>
        <p:spPr>
          <a:xfrm>
            <a:off x="6208776" y="1481328"/>
            <a:ext cx="2496312" cy="7132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persons table: widespread nulls plus '\N' string placeholders from raw IMDB TSV files. Cast to integer before any age analysis.</a:t>
            </a:r>
            <a:endParaRPr lang="en-US" sz="950" dirty="0"/>
          </a:p>
        </p:txBody>
      </p:sp>
      <p:sp>
        <p:nvSpPr>
          <p:cNvPr id="24" name="Shape 22"/>
          <p:cNvSpPr/>
          <p:nvPr/>
        </p:nvSpPr>
        <p:spPr>
          <a:xfrm>
            <a:off x="274320" y="2350008"/>
            <a:ext cx="2724912" cy="1234440"/>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25" name="Shape 23"/>
          <p:cNvSpPr/>
          <p:nvPr/>
        </p:nvSpPr>
        <p:spPr>
          <a:xfrm>
            <a:off x="274320" y="2350008"/>
            <a:ext cx="2724912" cy="45720"/>
          </a:xfrm>
          <a:prstGeom prst="rect">
            <a:avLst/>
          </a:prstGeom>
          <a:solidFill>
            <a:srgbClr val="F5A623"/>
          </a:solidFill>
          <a:ln w="12700">
            <a:solidFill>
              <a:srgbClr val="F5A623"/>
            </a:solidFill>
            <a:prstDash val="solid"/>
          </a:ln>
        </p:spPr>
      </p:sp>
      <p:sp>
        <p:nvSpPr>
          <p:cNvPr id="26" name="Shape 24"/>
          <p:cNvSpPr/>
          <p:nvPr/>
        </p:nvSpPr>
        <p:spPr>
          <a:xfrm>
            <a:off x="384048" y="2441448"/>
            <a:ext cx="347472" cy="347472"/>
          </a:xfrm>
          <a:prstGeom prst="rect">
            <a:avLst/>
          </a:prstGeom>
          <a:solidFill>
            <a:srgbClr val="F5A623"/>
          </a:solidFill>
          <a:ln w="12700">
            <a:solidFill>
              <a:srgbClr val="F5A623"/>
            </a:solidFill>
            <a:prstDash val="solid"/>
          </a:ln>
        </p:spPr>
      </p:sp>
      <p:sp>
        <p:nvSpPr>
          <p:cNvPr id="27" name="Text 25"/>
          <p:cNvSpPr/>
          <p:nvPr/>
        </p:nvSpPr>
        <p:spPr>
          <a:xfrm>
            <a:off x="384048" y="244144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8" name="Text 26"/>
          <p:cNvSpPr/>
          <p:nvPr/>
        </p:nvSpPr>
        <p:spPr>
          <a:xfrm>
            <a:off x="795528" y="2441448"/>
            <a:ext cx="2084832"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Parse Multi-Genre Strings</a:t>
            </a:r>
            <a:endParaRPr lang="en-US" sz="1050" dirty="0"/>
          </a:p>
        </p:txBody>
      </p:sp>
      <p:sp>
        <p:nvSpPr>
          <p:cNvPr id="29" name="Text 27"/>
          <p:cNvSpPr/>
          <p:nvPr/>
        </p:nvSpPr>
        <p:spPr>
          <a:xfrm>
            <a:off x="393192" y="2825496"/>
            <a:ext cx="2496312" cy="7132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genres stores comma-separated values (e.g., 'Action,Crime,Drama'). Must be split and exploded into one row per genre.</a:t>
            </a:r>
            <a:endParaRPr lang="en-US" sz="950" dirty="0"/>
          </a:p>
        </p:txBody>
      </p:sp>
      <p:sp>
        <p:nvSpPr>
          <p:cNvPr id="30" name="Shape 28"/>
          <p:cNvSpPr/>
          <p:nvPr/>
        </p:nvSpPr>
        <p:spPr>
          <a:xfrm>
            <a:off x="3182112" y="2350008"/>
            <a:ext cx="2724912" cy="1234440"/>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31" name="Shape 29"/>
          <p:cNvSpPr/>
          <p:nvPr/>
        </p:nvSpPr>
        <p:spPr>
          <a:xfrm>
            <a:off x="3182112" y="2350008"/>
            <a:ext cx="2724912" cy="45720"/>
          </a:xfrm>
          <a:prstGeom prst="rect">
            <a:avLst/>
          </a:prstGeom>
          <a:solidFill>
            <a:srgbClr val="F5A623"/>
          </a:solidFill>
          <a:ln w="12700">
            <a:solidFill>
              <a:srgbClr val="F5A623"/>
            </a:solidFill>
            <a:prstDash val="solid"/>
          </a:ln>
        </p:spPr>
      </p:sp>
      <p:sp>
        <p:nvSpPr>
          <p:cNvPr id="32" name="Shape 30"/>
          <p:cNvSpPr/>
          <p:nvPr/>
        </p:nvSpPr>
        <p:spPr>
          <a:xfrm>
            <a:off x="3291840" y="2441448"/>
            <a:ext cx="347472" cy="347472"/>
          </a:xfrm>
          <a:prstGeom prst="rect">
            <a:avLst/>
          </a:prstGeom>
          <a:solidFill>
            <a:srgbClr val="F5A623"/>
          </a:solidFill>
          <a:ln w="12700">
            <a:solidFill>
              <a:srgbClr val="F5A623"/>
            </a:solidFill>
            <a:prstDash val="solid"/>
          </a:ln>
        </p:spPr>
      </p:sp>
      <p:sp>
        <p:nvSpPr>
          <p:cNvPr id="33" name="Text 31"/>
          <p:cNvSpPr/>
          <p:nvPr/>
        </p:nvSpPr>
        <p:spPr>
          <a:xfrm>
            <a:off x="3291840" y="244144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34" name="Text 32"/>
          <p:cNvSpPr/>
          <p:nvPr/>
        </p:nvSpPr>
        <p:spPr>
          <a:xfrm>
            <a:off x="3703320" y="2441448"/>
            <a:ext cx="2084832"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Filter Low-Vote Outliers</a:t>
            </a:r>
            <a:endParaRPr lang="en-US" sz="1050" dirty="0"/>
          </a:p>
        </p:txBody>
      </p:sp>
      <p:sp>
        <p:nvSpPr>
          <p:cNvPr id="35" name="Text 33"/>
          <p:cNvSpPr/>
          <p:nvPr/>
        </p:nvSpPr>
        <p:spPr>
          <a:xfrm>
            <a:off x="3300984" y="2825496"/>
            <a:ext cx="2496312" cy="7132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Titles with &lt; 50 votes skew genre average ratings. Set and document a consistent minimum vote threshold before comparisons.</a:t>
            </a:r>
            <a:endParaRPr lang="en-US" sz="950" dirty="0"/>
          </a:p>
        </p:txBody>
      </p:sp>
      <p:sp>
        <p:nvSpPr>
          <p:cNvPr id="36" name="Shape 34"/>
          <p:cNvSpPr/>
          <p:nvPr/>
        </p:nvSpPr>
        <p:spPr>
          <a:xfrm>
            <a:off x="6089904" y="2350008"/>
            <a:ext cx="2724912" cy="1234440"/>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37" name="Shape 35"/>
          <p:cNvSpPr/>
          <p:nvPr/>
        </p:nvSpPr>
        <p:spPr>
          <a:xfrm>
            <a:off x="6089904" y="2350008"/>
            <a:ext cx="2724912" cy="45720"/>
          </a:xfrm>
          <a:prstGeom prst="rect">
            <a:avLst/>
          </a:prstGeom>
          <a:solidFill>
            <a:srgbClr val="F5A623"/>
          </a:solidFill>
          <a:ln w="12700">
            <a:solidFill>
              <a:srgbClr val="F5A623"/>
            </a:solidFill>
            <a:prstDash val="solid"/>
          </a:ln>
        </p:spPr>
      </p:sp>
      <p:sp>
        <p:nvSpPr>
          <p:cNvPr id="38" name="Shape 36"/>
          <p:cNvSpPr/>
          <p:nvPr/>
        </p:nvSpPr>
        <p:spPr>
          <a:xfrm>
            <a:off x="6199632" y="2441448"/>
            <a:ext cx="347472" cy="347472"/>
          </a:xfrm>
          <a:prstGeom prst="rect">
            <a:avLst/>
          </a:prstGeom>
          <a:solidFill>
            <a:srgbClr val="F5A623"/>
          </a:solidFill>
          <a:ln w="12700">
            <a:solidFill>
              <a:srgbClr val="F5A623"/>
            </a:solidFill>
            <a:prstDash val="solid"/>
          </a:ln>
        </p:spPr>
      </p:sp>
      <p:sp>
        <p:nvSpPr>
          <p:cNvPr id="39" name="Text 37"/>
          <p:cNvSpPr/>
          <p:nvPr/>
        </p:nvSpPr>
        <p:spPr>
          <a:xfrm>
            <a:off x="6199632" y="244144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40" name="Text 38"/>
          <p:cNvSpPr/>
          <p:nvPr/>
        </p:nvSpPr>
        <p:spPr>
          <a:xfrm>
            <a:off x="6611112" y="2441448"/>
            <a:ext cx="2084832"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Exclude Post-2019 Records</a:t>
            </a:r>
            <a:endParaRPr lang="en-US" sz="1050" dirty="0"/>
          </a:p>
        </p:txBody>
      </p:sp>
      <p:sp>
        <p:nvSpPr>
          <p:cNvPr id="41" name="Text 39"/>
          <p:cNvSpPr/>
          <p:nvPr/>
        </p:nvSpPr>
        <p:spPr>
          <a:xfrm>
            <a:off x="6208776" y="2825496"/>
            <a:ext cx="2496312" cy="7132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start_year &gt; 2019 data is incomplete. Apply WHERE start_year BETWEEN 2010 AND 2019 consistently across every query.</a:t>
            </a:r>
            <a:endParaRPr lang="en-US" sz="950" dirty="0"/>
          </a:p>
        </p:txBody>
      </p:sp>
      <p:sp>
        <p:nvSpPr>
          <p:cNvPr id="42" name="Shape 40"/>
          <p:cNvSpPr/>
          <p:nvPr/>
        </p:nvSpPr>
        <p:spPr>
          <a:xfrm>
            <a:off x="274320" y="3694176"/>
            <a:ext cx="2724912" cy="1234440"/>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43" name="Shape 41"/>
          <p:cNvSpPr/>
          <p:nvPr/>
        </p:nvSpPr>
        <p:spPr>
          <a:xfrm>
            <a:off x="274320" y="3694176"/>
            <a:ext cx="2724912" cy="45720"/>
          </a:xfrm>
          <a:prstGeom prst="rect">
            <a:avLst/>
          </a:prstGeom>
          <a:solidFill>
            <a:srgbClr val="028090"/>
          </a:solidFill>
          <a:ln w="12700">
            <a:solidFill>
              <a:srgbClr val="028090"/>
            </a:solidFill>
            <a:prstDash val="solid"/>
          </a:ln>
        </p:spPr>
      </p:sp>
      <p:sp>
        <p:nvSpPr>
          <p:cNvPr id="44" name="Shape 42"/>
          <p:cNvSpPr/>
          <p:nvPr/>
        </p:nvSpPr>
        <p:spPr>
          <a:xfrm>
            <a:off x="384048" y="3785616"/>
            <a:ext cx="347472" cy="347472"/>
          </a:xfrm>
          <a:prstGeom prst="rect">
            <a:avLst/>
          </a:prstGeom>
          <a:solidFill>
            <a:srgbClr val="028090"/>
          </a:solidFill>
          <a:ln w="12700">
            <a:solidFill>
              <a:srgbClr val="028090"/>
            </a:solidFill>
            <a:prstDash val="solid"/>
          </a:ln>
        </p:spPr>
      </p:sp>
      <p:sp>
        <p:nvSpPr>
          <p:cNvPr id="45" name="Text 43"/>
          <p:cNvSpPr/>
          <p:nvPr/>
        </p:nvSpPr>
        <p:spPr>
          <a:xfrm>
            <a:off x="384048" y="3785616"/>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46" name="Text 44"/>
          <p:cNvSpPr/>
          <p:nvPr/>
        </p:nvSpPr>
        <p:spPr>
          <a:xfrm>
            <a:off x="795528" y="3785616"/>
            <a:ext cx="2084832"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Null movie_akas.region</a:t>
            </a:r>
            <a:endParaRPr lang="en-US" sz="1050" dirty="0"/>
          </a:p>
        </p:txBody>
      </p:sp>
      <p:sp>
        <p:nvSpPr>
          <p:cNvPr id="47" name="Text 45"/>
          <p:cNvSpPr/>
          <p:nvPr/>
        </p:nvSpPr>
        <p:spPr>
          <a:xfrm>
            <a:off x="393192" y="4169664"/>
            <a:ext cx="2496312" cy="7132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Region field contains nulls. Exclude via WHERE region IS NOT NULL before any international distribution analysis.</a:t>
            </a:r>
            <a:endParaRPr lang="en-US" sz="950" dirty="0"/>
          </a:p>
        </p:txBody>
      </p:sp>
      <p:sp>
        <p:nvSpPr>
          <p:cNvPr id="48" name="Shape 46"/>
          <p:cNvSpPr/>
          <p:nvPr/>
        </p:nvSpPr>
        <p:spPr>
          <a:xfrm>
            <a:off x="3182112" y="3694176"/>
            <a:ext cx="2724912" cy="1234440"/>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49" name="Shape 47"/>
          <p:cNvSpPr/>
          <p:nvPr/>
        </p:nvSpPr>
        <p:spPr>
          <a:xfrm>
            <a:off x="3182112" y="3694176"/>
            <a:ext cx="2724912" cy="45720"/>
          </a:xfrm>
          <a:prstGeom prst="rect">
            <a:avLst/>
          </a:prstGeom>
          <a:solidFill>
            <a:srgbClr val="028090"/>
          </a:solidFill>
          <a:ln w="12700">
            <a:solidFill>
              <a:srgbClr val="028090"/>
            </a:solidFill>
            <a:prstDash val="solid"/>
          </a:ln>
        </p:spPr>
      </p:sp>
      <p:sp>
        <p:nvSpPr>
          <p:cNvPr id="50" name="Shape 48"/>
          <p:cNvSpPr/>
          <p:nvPr/>
        </p:nvSpPr>
        <p:spPr>
          <a:xfrm>
            <a:off x="3291840" y="3785616"/>
            <a:ext cx="347472" cy="347472"/>
          </a:xfrm>
          <a:prstGeom prst="rect">
            <a:avLst/>
          </a:prstGeom>
          <a:solidFill>
            <a:srgbClr val="028090"/>
          </a:solidFill>
          <a:ln w="12700">
            <a:solidFill>
              <a:srgbClr val="028090"/>
            </a:solidFill>
            <a:prstDash val="solid"/>
          </a:ln>
        </p:spPr>
      </p:sp>
      <p:sp>
        <p:nvSpPr>
          <p:cNvPr id="51" name="Text 49"/>
          <p:cNvSpPr/>
          <p:nvPr/>
        </p:nvSpPr>
        <p:spPr>
          <a:xfrm>
            <a:off x="3291840" y="3785616"/>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52" name="Text 50"/>
          <p:cNvSpPr/>
          <p:nvPr/>
        </p:nvSpPr>
        <p:spPr>
          <a:xfrm>
            <a:off x="3703320" y="3785616"/>
            <a:ext cx="2084832"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Normalize Region Codes</a:t>
            </a:r>
            <a:endParaRPr lang="en-US" sz="1050" dirty="0"/>
          </a:p>
        </p:txBody>
      </p:sp>
      <p:sp>
        <p:nvSpPr>
          <p:cNvPr id="53" name="Text 51"/>
          <p:cNvSpPr/>
          <p:nvPr/>
        </p:nvSpPr>
        <p:spPr>
          <a:xfrm>
            <a:off x="3300984" y="4169664"/>
            <a:ext cx="2496312" cy="7132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Mixes ISO codes (US, GB), non-standard entries, and nulls. Standardize all region codes before international reach analysis.</a:t>
            </a:r>
            <a:endParaRPr lang="en-US" sz="950" dirty="0"/>
          </a:p>
        </p:txBody>
      </p:sp>
      <p:sp>
        <p:nvSpPr>
          <p:cNvPr id="54" name="Shape 52"/>
          <p:cNvSpPr/>
          <p:nvPr/>
        </p:nvSpPr>
        <p:spPr>
          <a:xfrm>
            <a:off x="6089904" y="3694176"/>
            <a:ext cx="2724912" cy="1234440"/>
          </a:xfrm>
          <a:prstGeom prst="rect">
            <a:avLst/>
          </a:prstGeom>
          <a:solidFill>
            <a:srgbClr val="FFFFFF"/>
          </a:solidFill>
          <a:ln w="9525">
            <a:solidFill>
              <a:srgbClr val="D1DDE8"/>
            </a:solidFill>
            <a:prstDash val="solid"/>
          </a:ln>
          <a:effectLst>
            <a:outerShdw sx="100000" sy="100000" kx="0" ky="0" algn="bl" rotWithShape="0" blurRad="50800" dist="25400" dir="8100000">
              <a:srgbClr val="000000">
                <a:alpha val="7000"/>
              </a:srgbClr>
            </a:outerShdw>
          </a:effectLst>
        </p:spPr>
      </p:sp>
      <p:sp>
        <p:nvSpPr>
          <p:cNvPr id="55" name="Shape 53"/>
          <p:cNvSpPr/>
          <p:nvPr/>
        </p:nvSpPr>
        <p:spPr>
          <a:xfrm>
            <a:off x="6089904" y="3694176"/>
            <a:ext cx="2724912" cy="45720"/>
          </a:xfrm>
          <a:prstGeom prst="rect">
            <a:avLst/>
          </a:prstGeom>
          <a:solidFill>
            <a:srgbClr val="028090"/>
          </a:solidFill>
          <a:ln w="12700">
            <a:solidFill>
              <a:srgbClr val="028090"/>
            </a:solidFill>
            <a:prstDash val="solid"/>
          </a:ln>
        </p:spPr>
      </p:sp>
      <p:sp>
        <p:nvSpPr>
          <p:cNvPr id="56" name="Shape 54"/>
          <p:cNvSpPr/>
          <p:nvPr/>
        </p:nvSpPr>
        <p:spPr>
          <a:xfrm>
            <a:off x="6199632" y="3785616"/>
            <a:ext cx="347472" cy="347472"/>
          </a:xfrm>
          <a:prstGeom prst="rect">
            <a:avLst/>
          </a:prstGeom>
          <a:solidFill>
            <a:srgbClr val="028090"/>
          </a:solidFill>
          <a:ln w="12700">
            <a:solidFill>
              <a:srgbClr val="028090"/>
            </a:solidFill>
            <a:prstDash val="solid"/>
          </a:ln>
        </p:spPr>
      </p:sp>
      <p:sp>
        <p:nvSpPr>
          <p:cNvPr id="57" name="Text 55"/>
          <p:cNvSpPr/>
          <p:nvPr/>
        </p:nvSpPr>
        <p:spPr>
          <a:xfrm>
            <a:off x="6199632" y="3785616"/>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58" name="Text 56"/>
          <p:cNvSpPr/>
          <p:nvPr/>
        </p:nvSpPr>
        <p:spPr>
          <a:xfrm>
            <a:off x="6611112" y="3785616"/>
            <a:ext cx="2084832"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Deduplicate movie_akas Entries</a:t>
            </a:r>
            <a:endParaRPr lang="en-US" sz="1050" dirty="0"/>
          </a:p>
        </p:txBody>
      </p:sp>
      <p:sp>
        <p:nvSpPr>
          <p:cNvPr id="59" name="Text 57"/>
          <p:cNvSpPr/>
          <p:nvPr/>
        </p:nvSpPr>
        <p:spPr>
          <a:xfrm>
            <a:off x="6208776" y="4169664"/>
            <a:ext cx="2496312" cy="7132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Multiple rows per movie-region exist for different release types. Use COUNT(DISTINCT movie_id) to avoid double-counting.</a:t>
            </a:r>
            <a:endParaRPr lang="en-US" sz="950" dirty="0"/>
          </a:p>
        </p:txBody>
      </p:sp>
      <p:sp>
        <p:nvSpPr>
          <p:cNvPr id="60" name="Shape 58"/>
          <p:cNvSpPr/>
          <p:nvPr/>
        </p:nvSpPr>
        <p:spPr>
          <a:xfrm>
            <a:off x="8887968" y="1261872"/>
            <a:ext cx="164592" cy="914400"/>
          </a:xfrm>
          <a:prstGeom prst="rect">
            <a:avLst/>
          </a:prstGeom>
          <a:solidFill>
            <a:srgbClr val="C0392B"/>
          </a:solidFill>
          <a:ln w="12700">
            <a:solidFill>
              <a:srgbClr val="C0392B"/>
            </a:solidFill>
            <a:prstDash val="solid"/>
          </a:ln>
        </p:spPr>
      </p:sp>
      <p:sp>
        <p:nvSpPr>
          <p:cNvPr id="61" name="Text 59"/>
          <p:cNvSpPr/>
          <p:nvPr/>
        </p:nvSpPr>
        <p:spPr>
          <a:xfrm rot="5400000">
            <a:off x="8686800" y="1261872"/>
            <a:ext cx="182880" cy="914400"/>
          </a:xfrm>
          <a:prstGeom prst="rect">
            <a:avLst/>
          </a:prstGeom>
          <a:noFill/>
          <a:ln/>
        </p:spPr>
        <p:txBody>
          <a:bodyPr wrap="square" rtlCol="0" anchor="ctr"/>
          <a:lstStyle/>
          <a:p>
            <a:pPr algn="ctr" indent="0" marL="0">
              <a:buNone/>
            </a:pPr>
            <a:r>
              <a:rPr lang="en-US" sz="700" b="1" dirty="0">
                <a:solidFill>
                  <a:srgbClr val="C0392B"/>
                </a:solidFill>
                <a:latin typeface="Calibri" pitchFamily="34" charset="0"/>
                <a:ea typeface="Calibri" pitchFamily="34" charset="-122"/>
                <a:cs typeface="Calibri" pitchFamily="34" charset="-120"/>
              </a:rPr>
              <a:t>NULL</a:t>
            </a:r>
            <a:endParaRPr lang="en-US" sz="700" dirty="0"/>
          </a:p>
          <a:p>
            <a:pPr algn="ctr" indent="0" marL="0">
              <a:buNone/>
            </a:pPr>
            <a:r>
              <a:rPr lang="en-US" sz="700" b="1" dirty="0">
                <a:solidFill>
                  <a:srgbClr val="C0392B"/>
                </a:solidFill>
                <a:latin typeface="Calibri" pitchFamily="34" charset="0"/>
                <a:ea typeface="Calibri" pitchFamily="34" charset="-122"/>
                <a:cs typeface="Calibri" pitchFamily="34" charset="-120"/>
              </a:rPr>
              <a:t>HANDLING</a:t>
            </a:r>
            <a:endParaRPr lang="en-US" sz="700" dirty="0"/>
          </a:p>
        </p:txBody>
      </p:sp>
      <p:sp>
        <p:nvSpPr>
          <p:cNvPr id="62" name="Shape 60"/>
          <p:cNvSpPr/>
          <p:nvPr/>
        </p:nvSpPr>
        <p:spPr>
          <a:xfrm>
            <a:off x="8887968" y="2606040"/>
            <a:ext cx="164592" cy="914400"/>
          </a:xfrm>
          <a:prstGeom prst="rect">
            <a:avLst/>
          </a:prstGeom>
          <a:solidFill>
            <a:srgbClr val="F5A623"/>
          </a:solidFill>
          <a:ln w="12700">
            <a:solidFill>
              <a:srgbClr val="F5A623"/>
            </a:solidFill>
            <a:prstDash val="solid"/>
          </a:ln>
        </p:spPr>
      </p:sp>
      <p:sp>
        <p:nvSpPr>
          <p:cNvPr id="63" name="Text 61"/>
          <p:cNvSpPr/>
          <p:nvPr/>
        </p:nvSpPr>
        <p:spPr>
          <a:xfrm rot="5400000">
            <a:off x="8686800" y="2606040"/>
            <a:ext cx="182880" cy="914400"/>
          </a:xfrm>
          <a:prstGeom prst="rect">
            <a:avLst/>
          </a:prstGeom>
          <a:noFill/>
          <a:ln/>
        </p:spPr>
        <p:txBody>
          <a:bodyPr wrap="square" rtlCol="0" anchor="ctr"/>
          <a:lstStyle/>
          <a:p>
            <a:pPr algn="ctr" indent="0" marL="0">
              <a:buNone/>
            </a:pPr>
            <a:r>
              <a:rPr lang="en-US" sz="700" b="1" dirty="0">
                <a:solidFill>
                  <a:srgbClr val="F5A623"/>
                </a:solidFill>
                <a:latin typeface="Calibri" pitchFamily="34" charset="0"/>
                <a:ea typeface="Calibri" pitchFamily="34" charset="-122"/>
                <a:cs typeface="Calibri" pitchFamily="34" charset="-120"/>
              </a:rPr>
              <a:t>DATA</a:t>
            </a:r>
            <a:endParaRPr lang="en-US" sz="700" dirty="0"/>
          </a:p>
          <a:p>
            <a:pPr algn="ctr" indent="0" marL="0">
              <a:buNone/>
            </a:pPr>
            <a:r>
              <a:rPr lang="en-US" sz="700" b="1" dirty="0">
                <a:solidFill>
                  <a:srgbClr val="F5A623"/>
                </a:solidFill>
                <a:latin typeface="Calibri" pitchFamily="34" charset="0"/>
                <a:ea typeface="Calibri" pitchFamily="34" charset="-122"/>
                <a:cs typeface="Calibri" pitchFamily="34" charset="-120"/>
              </a:rPr>
              <a:t>NORM.</a:t>
            </a:r>
            <a:endParaRPr lang="en-US" sz="700" dirty="0"/>
          </a:p>
        </p:txBody>
      </p:sp>
      <p:sp>
        <p:nvSpPr>
          <p:cNvPr id="64" name="Shape 62"/>
          <p:cNvSpPr/>
          <p:nvPr/>
        </p:nvSpPr>
        <p:spPr>
          <a:xfrm>
            <a:off x="8887968" y="3950208"/>
            <a:ext cx="164592" cy="914400"/>
          </a:xfrm>
          <a:prstGeom prst="rect">
            <a:avLst/>
          </a:prstGeom>
          <a:solidFill>
            <a:srgbClr val="028090"/>
          </a:solidFill>
          <a:ln w="12700">
            <a:solidFill>
              <a:srgbClr val="028090"/>
            </a:solidFill>
            <a:prstDash val="solid"/>
          </a:ln>
        </p:spPr>
      </p:sp>
      <p:sp>
        <p:nvSpPr>
          <p:cNvPr id="65" name="Text 63"/>
          <p:cNvSpPr/>
          <p:nvPr/>
        </p:nvSpPr>
        <p:spPr>
          <a:xfrm rot="5400000">
            <a:off x="8686800" y="3950208"/>
            <a:ext cx="182880" cy="914400"/>
          </a:xfrm>
          <a:prstGeom prst="rect">
            <a:avLst/>
          </a:prstGeom>
          <a:noFill/>
          <a:ln/>
        </p:spPr>
        <p:txBody>
          <a:bodyPr wrap="square" rtlCol="0" anchor="ctr"/>
          <a:lstStyle/>
          <a:p>
            <a:pPr algn="ctr" indent="0" marL="0">
              <a:buNone/>
            </a:pPr>
            <a:r>
              <a:rPr lang="en-US" sz="700" b="1" dirty="0">
                <a:solidFill>
                  <a:srgbClr val="028090"/>
                </a:solidFill>
                <a:latin typeface="Calibri" pitchFamily="34" charset="0"/>
                <a:ea typeface="Calibri" pitchFamily="34" charset="-122"/>
                <a:cs typeface="Calibri" pitchFamily="34" charset="-120"/>
              </a:rPr>
              <a:t>STAND-</a:t>
            </a:r>
            <a:endParaRPr lang="en-US" sz="700" dirty="0"/>
          </a:p>
          <a:p>
            <a:pPr algn="ctr" indent="0" marL="0">
              <a:buNone/>
            </a:pPr>
            <a:r>
              <a:rPr lang="en-US" sz="700" b="1" dirty="0">
                <a:solidFill>
                  <a:srgbClr val="028090"/>
                </a:solidFill>
                <a:latin typeface="Calibri" pitchFamily="34" charset="0"/>
                <a:ea typeface="Calibri" pitchFamily="34" charset="-122"/>
                <a:cs typeface="Calibri" pitchFamily="34" charset="-120"/>
              </a:rPr>
              <a:t>ARDIZ.</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9144000" cy="64008"/>
          </a:xfrm>
          <a:prstGeom prst="rect">
            <a:avLst/>
          </a:prstGeom>
          <a:solidFill>
            <a:srgbClr val="F5A623"/>
          </a:solidFill>
          <a:ln w="12700">
            <a:solidFill>
              <a:srgbClr val="F5A623"/>
            </a:solidFill>
            <a:prstDash val="solid"/>
          </a:ln>
        </p:spPr>
      </p:sp>
      <p:sp>
        <p:nvSpPr>
          <p:cNvPr id="4" name="Text 2"/>
          <p:cNvSpPr/>
          <p:nvPr/>
        </p:nvSpPr>
        <p:spPr>
          <a:xfrm>
            <a:off x="320040" y="155448"/>
            <a:ext cx="530352" cy="621792"/>
          </a:xfrm>
          <a:prstGeom prst="rect">
            <a:avLst/>
          </a:prstGeom>
          <a:noFill/>
          <a:ln/>
        </p:spPr>
        <p:txBody>
          <a:bodyPr wrap="square" rtlCol="0" anchor="ctr"/>
          <a:lstStyle/>
          <a:p>
            <a:pPr algn="ctr" indent="0" marL="0">
              <a:buNone/>
            </a:pPr>
            <a:r>
              <a:rPr lang="en-US" sz="2200" b="1" dirty="0">
                <a:solidFill>
                  <a:srgbClr val="F5A623"/>
                </a:solidFill>
                <a:latin typeface="Calibri" pitchFamily="34" charset="0"/>
                <a:ea typeface="Calibri" pitchFamily="34" charset="-122"/>
                <a:cs typeface="Calibri" pitchFamily="34" charset="-120"/>
              </a:rPr>
              <a:t>04</a:t>
            </a:r>
            <a:endParaRPr lang="en-US" sz="2200" dirty="0"/>
          </a:p>
        </p:txBody>
      </p:sp>
      <p:sp>
        <p:nvSpPr>
          <p:cNvPr id="5" name="Text 3"/>
          <p:cNvSpPr/>
          <p:nvPr/>
        </p:nvSpPr>
        <p:spPr>
          <a:xfrm>
            <a:off x="960120" y="164592"/>
            <a:ext cx="7818120" cy="59436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Null Value Handling</a:t>
            </a:r>
            <a:endParaRPr lang="en-US" sz="2700" dirty="0"/>
          </a:p>
        </p:txBody>
      </p:sp>
      <p:sp>
        <p:nvSpPr>
          <p:cNvPr id="6" name="Text 4"/>
          <p:cNvSpPr/>
          <p:nvPr/>
        </p:nvSpPr>
        <p:spPr>
          <a:xfrm>
            <a:off x="365760" y="987552"/>
            <a:ext cx="8412480" cy="274320"/>
          </a:xfrm>
          <a:prstGeom prst="rect">
            <a:avLst/>
          </a:prstGeom>
          <a:noFill/>
          <a:ln/>
        </p:spPr>
        <p:txBody>
          <a:bodyPr wrap="square" rtlCol="0" anchor="ctr"/>
          <a:lstStyle/>
          <a:p>
            <a:pPr indent="0" marL="0">
              <a:buNone/>
            </a:pPr>
            <a:r>
              <a:rPr lang="en-US" sz="950" b="1" spc="120" kern="0" dirty="0">
                <a:solidFill>
                  <a:srgbClr val="F5A623"/>
                </a:solidFill>
                <a:latin typeface="Calibri" pitchFamily="34" charset="0"/>
                <a:ea typeface="Calibri" pitchFamily="34" charset="-122"/>
                <a:cs typeface="Calibri" pitchFamily="34" charset="-120"/>
              </a:rPr>
              <a:t>WHAT THE ASSIGNMENT REQUIRES — AND HOW IT WAS ADDRESSED:</a:t>
            </a:r>
            <a:endParaRPr lang="en-US" sz="950" dirty="0"/>
          </a:p>
        </p:txBody>
      </p:sp>
      <p:sp>
        <p:nvSpPr>
          <p:cNvPr id="7" name="Shape 5"/>
          <p:cNvSpPr/>
          <p:nvPr/>
        </p:nvSpPr>
        <p:spPr>
          <a:xfrm>
            <a:off x="320040" y="1353312"/>
            <a:ext cx="8503920" cy="1097280"/>
          </a:xfrm>
          <a:prstGeom prst="rect">
            <a:avLst/>
          </a:prstGeom>
          <a:solidFill>
            <a:srgbClr val="1C3A52"/>
          </a:solidFill>
          <a:ln w="12700">
            <a:solidFill>
              <a:srgbClr val="00A896"/>
            </a:solidFill>
            <a:prstDash val="solid"/>
          </a:ln>
        </p:spPr>
      </p:sp>
      <p:sp>
        <p:nvSpPr>
          <p:cNvPr id="8" name="Shape 6"/>
          <p:cNvSpPr/>
          <p:nvPr/>
        </p:nvSpPr>
        <p:spPr>
          <a:xfrm>
            <a:off x="320040" y="1353312"/>
            <a:ext cx="384048" cy="1097280"/>
          </a:xfrm>
          <a:prstGeom prst="rect">
            <a:avLst/>
          </a:prstGeom>
          <a:solidFill>
            <a:srgbClr val="00A896"/>
          </a:solidFill>
          <a:ln w="12700">
            <a:solidFill>
              <a:srgbClr val="00A896"/>
            </a:solidFill>
            <a:prstDash val="solid"/>
          </a:ln>
        </p:spPr>
      </p:sp>
      <p:sp>
        <p:nvSpPr>
          <p:cNvPr id="9" name="Text 7"/>
          <p:cNvSpPr/>
          <p:nvPr/>
        </p:nvSpPr>
        <p:spPr>
          <a:xfrm>
            <a:off x="320040" y="1353312"/>
            <a:ext cx="384048" cy="10972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p:cNvSpPr/>
          <p:nvPr/>
        </p:nvSpPr>
        <p:spPr>
          <a:xfrm>
            <a:off x="777240" y="1426464"/>
            <a:ext cx="3337560" cy="384048"/>
          </a:xfrm>
          <a:prstGeom prst="rect">
            <a:avLst/>
          </a:prstGeom>
          <a:noFill/>
          <a:ln/>
        </p:spPr>
        <p:txBody>
          <a:bodyPr wrap="square" lIns="0" tIns="0" rIns="0" bIns="0" rtlCol="0" anchor="ctr"/>
          <a:lstStyle/>
          <a:p>
            <a:pPr indent="0" marL="0">
              <a:buNone/>
            </a:pPr>
            <a:r>
              <a:rPr lang="en-US" sz="1050" b="1" dirty="0">
                <a:solidFill>
                  <a:srgbClr val="00A896"/>
                </a:solidFill>
                <a:latin typeface="Calibri" pitchFamily="34" charset="0"/>
                <a:ea typeface="Calibri" pitchFamily="34" charset="-122"/>
                <a:cs typeface="Calibri" pitchFamily="34" charset="-120"/>
              </a:rPr>
              <a:t>Be aware that the dataset contains null values in certain fields</a:t>
            </a:r>
            <a:endParaRPr lang="en-US" sz="1050" dirty="0"/>
          </a:p>
        </p:txBody>
      </p:sp>
      <p:sp>
        <p:nvSpPr>
          <p:cNvPr id="11" name="Shape 9"/>
          <p:cNvSpPr/>
          <p:nvPr/>
        </p:nvSpPr>
        <p:spPr>
          <a:xfrm>
            <a:off x="4160520" y="1426464"/>
            <a:ext cx="36576" cy="950976"/>
          </a:xfrm>
          <a:prstGeom prst="rect">
            <a:avLst/>
          </a:prstGeom>
          <a:solidFill>
            <a:srgbClr val="00A896"/>
          </a:solidFill>
          <a:ln w="12700">
            <a:solidFill>
              <a:srgbClr val="00A896"/>
            </a:solidFill>
            <a:prstDash val="solid"/>
          </a:ln>
        </p:spPr>
      </p:sp>
      <p:sp>
        <p:nvSpPr>
          <p:cNvPr id="12" name="Text 10"/>
          <p:cNvSpPr/>
          <p:nvPr/>
        </p:nvSpPr>
        <p:spPr>
          <a:xfrm>
            <a:off x="4279392" y="1426464"/>
            <a:ext cx="4407408" cy="950976"/>
          </a:xfrm>
          <a:prstGeom prst="rect">
            <a:avLst/>
          </a:prstGeom>
          <a:noFill/>
          <a:ln/>
        </p:spPr>
        <p:txBody>
          <a:bodyPr wrap="square" lIns="0" tIns="0" rIns="0" bIns="0" rtlCol="0" anchor="t"/>
          <a:lstStyle/>
          <a:p>
            <a:pPr indent="0" marL="0">
              <a:buNone/>
            </a:pPr>
            <a:r>
              <a:rPr lang="en-US" sz="980" dirty="0">
                <a:solidFill>
                  <a:srgbClr val="B0C4D8"/>
                </a:solidFill>
                <a:latin typeface="Calibri" pitchFamily="34" charset="0"/>
                <a:ea typeface="Calibri" pitchFamily="34" charset="-122"/>
                <a:cs typeface="Calibri" pitchFamily="34" charset="-120"/>
              </a:rPr>
              <a:t>Null presence was quantified before any analysis. movie_basics: runtime_minutes missing in 30,765 records (21.2%); genres missing in 5,359 records (3.7%). persons: birth_year null in 86.4% of records plus '\N' string placeholders. movie_akas.region also contains nulls.</a:t>
            </a:r>
            <a:endParaRPr lang="en-US" sz="980" dirty="0"/>
          </a:p>
        </p:txBody>
      </p:sp>
      <p:sp>
        <p:nvSpPr>
          <p:cNvPr id="13" name="Shape 11"/>
          <p:cNvSpPr/>
          <p:nvPr/>
        </p:nvSpPr>
        <p:spPr>
          <a:xfrm>
            <a:off x="320040" y="2542032"/>
            <a:ext cx="8503920" cy="1097280"/>
          </a:xfrm>
          <a:prstGeom prst="rect">
            <a:avLst/>
          </a:prstGeom>
          <a:solidFill>
            <a:srgbClr val="1C3A52"/>
          </a:solidFill>
          <a:ln w="12700">
            <a:solidFill>
              <a:srgbClr val="00A896"/>
            </a:solidFill>
            <a:prstDash val="solid"/>
          </a:ln>
        </p:spPr>
      </p:sp>
      <p:sp>
        <p:nvSpPr>
          <p:cNvPr id="14" name="Shape 12"/>
          <p:cNvSpPr/>
          <p:nvPr/>
        </p:nvSpPr>
        <p:spPr>
          <a:xfrm>
            <a:off x="320040" y="2542032"/>
            <a:ext cx="384048" cy="1097280"/>
          </a:xfrm>
          <a:prstGeom prst="rect">
            <a:avLst/>
          </a:prstGeom>
          <a:solidFill>
            <a:srgbClr val="00A896"/>
          </a:solidFill>
          <a:ln w="12700">
            <a:solidFill>
              <a:srgbClr val="00A896"/>
            </a:solidFill>
            <a:prstDash val="solid"/>
          </a:ln>
        </p:spPr>
      </p:sp>
      <p:sp>
        <p:nvSpPr>
          <p:cNvPr id="15" name="Text 13"/>
          <p:cNvSpPr/>
          <p:nvPr/>
        </p:nvSpPr>
        <p:spPr>
          <a:xfrm>
            <a:off x="320040" y="2542032"/>
            <a:ext cx="384048" cy="10972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6" name="Text 14"/>
          <p:cNvSpPr/>
          <p:nvPr/>
        </p:nvSpPr>
        <p:spPr>
          <a:xfrm>
            <a:off x="777240" y="2615184"/>
            <a:ext cx="3337560" cy="384048"/>
          </a:xfrm>
          <a:prstGeom prst="rect">
            <a:avLst/>
          </a:prstGeom>
          <a:noFill/>
          <a:ln/>
        </p:spPr>
        <p:txBody>
          <a:bodyPr wrap="square" lIns="0" tIns="0" rIns="0" bIns="0" rtlCol="0" anchor="ctr"/>
          <a:lstStyle/>
          <a:p>
            <a:pPr indent="0" marL="0">
              <a:buNone/>
            </a:pPr>
            <a:r>
              <a:rPr lang="en-US" sz="1050" b="1" dirty="0">
                <a:solidFill>
                  <a:srgbClr val="00A896"/>
                </a:solidFill>
                <a:latin typeface="Calibri" pitchFamily="34" charset="0"/>
                <a:ea typeface="Calibri" pitchFamily="34" charset="-122"/>
                <a:cs typeface="Calibri" pitchFamily="34" charset="-120"/>
              </a:rPr>
              <a:t>Exclude these null values from your exploration</a:t>
            </a:r>
            <a:endParaRPr lang="en-US" sz="1050" dirty="0"/>
          </a:p>
        </p:txBody>
      </p:sp>
      <p:sp>
        <p:nvSpPr>
          <p:cNvPr id="17" name="Shape 15"/>
          <p:cNvSpPr/>
          <p:nvPr/>
        </p:nvSpPr>
        <p:spPr>
          <a:xfrm>
            <a:off x="4160520" y="2615184"/>
            <a:ext cx="36576" cy="950976"/>
          </a:xfrm>
          <a:prstGeom prst="rect">
            <a:avLst/>
          </a:prstGeom>
          <a:solidFill>
            <a:srgbClr val="00A896"/>
          </a:solidFill>
          <a:ln w="12700">
            <a:solidFill>
              <a:srgbClr val="00A896"/>
            </a:solidFill>
            <a:prstDash val="solid"/>
          </a:ln>
        </p:spPr>
      </p:sp>
      <p:sp>
        <p:nvSpPr>
          <p:cNvPr id="18" name="Text 16"/>
          <p:cNvSpPr/>
          <p:nvPr/>
        </p:nvSpPr>
        <p:spPr>
          <a:xfrm>
            <a:off x="4279392" y="2615184"/>
            <a:ext cx="4407408" cy="950976"/>
          </a:xfrm>
          <a:prstGeom prst="rect">
            <a:avLst/>
          </a:prstGeom>
          <a:noFill/>
          <a:ln/>
        </p:spPr>
        <p:txBody>
          <a:bodyPr wrap="square" lIns="0" tIns="0" rIns="0" bIns="0" rtlCol="0" anchor="t"/>
          <a:lstStyle/>
          <a:p>
            <a:pPr indent="0" marL="0">
              <a:buNone/>
            </a:pPr>
            <a:r>
              <a:rPr lang="en-US" sz="980" dirty="0">
                <a:solidFill>
                  <a:srgbClr val="B0C4D8"/>
                </a:solidFill>
                <a:latin typeface="Calibri" pitchFamily="34" charset="0"/>
                <a:ea typeface="Calibri" pitchFamily="34" charset="-122"/>
                <a:cs typeface="Calibri" pitchFamily="34" charset="-120"/>
              </a:rPr>
              <a:t>Every exploration query applies IS NOT NULL filters on genres, runtime_minutes, averagerating, and numvotes in the WHERE clause — ensuring AVG(), COUNT(), and SUM() only operate on complete rows. Example pattern:</a:t>
            </a:r>
            <a:endParaRPr lang="en-US" sz="980" dirty="0"/>
          </a:p>
          <a:p>
            <a:pPr indent="0" marL="0">
              <a:buNone/>
            </a:pPr>
            <a:r>
              <a:rPr lang="en-US" sz="980" dirty="0">
                <a:solidFill>
                  <a:srgbClr val="B0C4D8"/>
                </a:solidFill>
                <a:latin typeface="Calibri" pitchFamily="34" charset="0"/>
                <a:ea typeface="Calibri" pitchFamily="34" charset="-122"/>
                <a:cs typeface="Calibri" pitchFamily="34" charset="-120"/>
              </a:rPr>
              <a:t>WHERE mb.genres IS NOT NULL AND mr.averagerating IS NOT NULL AND mr.numvotes IS NOT NULL</a:t>
            </a:r>
            <a:endParaRPr lang="en-US" sz="980" dirty="0"/>
          </a:p>
        </p:txBody>
      </p:sp>
      <p:sp>
        <p:nvSpPr>
          <p:cNvPr id="19" name="Shape 17"/>
          <p:cNvSpPr/>
          <p:nvPr/>
        </p:nvSpPr>
        <p:spPr>
          <a:xfrm>
            <a:off x="320040" y="3730752"/>
            <a:ext cx="8503920" cy="1097280"/>
          </a:xfrm>
          <a:prstGeom prst="rect">
            <a:avLst/>
          </a:prstGeom>
          <a:solidFill>
            <a:srgbClr val="1C3A52"/>
          </a:solidFill>
          <a:ln w="12700">
            <a:solidFill>
              <a:srgbClr val="00A896"/>
            </a:solidFill>
            <a:prstDash val="solid"/>
          </a:ln>
        </p:spPr>
      </p:sp>
      <p:sp>
        <p:nvSpPr>
          <p:cNvPr id="20" name="Shape 18"/>
          <p:cNvSpPr/>
          <p:nvPr/>
        </p:nvSpPr>
        <p:spPr>
          <a:xfrm>
            <a:off x="320040" y="3730752"/>
            <a:ext cx="384048" cy="1097280"/>
          </a:xfrm>
          <a:prstGeom prst="rect">
            <a:avLst/>
          </a:prstGeom>
          <a:solidFill>
            <a:srgbClr val="00A896"/>
          </a:solidFill>
          <a:ln w="12700">
            <a:solidFill>
              <a:srgbClr val="00A896"/>
            </a:solidFill>
            <a:prstDash val="solid"/>
          </a:ln>
        </p:spPr>
      </p:sp>
      <p:sp>
        <p:nvSpPr>
          <p:cNvPr id="21" name="Text 19"/>
          <p:cNvSpPr/>
          <p:nvPr/>
        </p:nvSpPr>
        <p:spPr>
          <a:xfrm>
            <a:off x="320040" y="3730752"/>
            <a:ext cx="384048" cy="10972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Text 20"/>
          <p:cNvSpPr/>
          <p:nvPr/>
        </p:nvSpPr>
        <p:spPr>
          <a:xfrm>
            <a:off x="777240" y="3803904"/>
            <a:ext cx="3337560" cy="384048"/>
          </a:xfrm>
          <a:prstGeom prst="rect">
            <a:avLst/>
          </a:prstGeom>
          <a:noFill/>
          <a:ln/>
        </p:spPr>
        <p:txBody>
          <a:bodyPr wrap="square" lIns="0" tIns="0" rIns="0" bIns="0" rtlCol="0" anchor="ctr"/>
          <a:lstStyle/>
          <a:p>
            <a:pPr indent="0" marL="0">
              <a:buNone/>
            </a:pPr>
            <a:r>
              <a:rPr lang="en-US" sz="1050" b="1" dirty="0">
                <a:solidFill>
                  <a:srgbClr val="00A896"/>
                </a:solidFill>
                <a:latin typeface="Calibri" pitchFamily="34" charset="0"/>
                <a:ea typeface="Calibri" pitchFamily="34" charset="-122"/>
                <a:cs typeface="Calibri" pitchFamily="34" charset="-120"/>
              </a:rPr>
              <a:t>Do not attempt to input or fill in missing information</a:t>
            </a:r>
            <a:endParaRPr lang="en-US" sz="1050" dirty="0"/>
          </a:p>
        </p:txBody>
      </p:sp>
      <p:sp>
        <p:nvSpPr>
          <p:cNvPr id="23" name="Shape 21"/>
          <p:cNvSpPr/>
          <p:nvPr/>
        </p:nvSpPr>
        <p:spPr>
          <a:xfrm>
            <a:off x="4160520" y="3803904"/>
            <a:ext cx="36576" cy="950976"/>
          </a:xfrm>
          <a:prstGeom prst="rect">
            <a:avLst/>
          </a:prstGeom>
          <a:solidFill>
            <a:srgbClr val="00A896"/>
          </a:solidFill>
          <a:ln w="12700">
            <a:solidFill>
              <a:srgbClr val="00A896"/>
            </a:solidFill>
            <a:prstDash val="solid"/>
          </a:ln>
        </p:spPr>
      </p:sp>
      <p:sp>
        <p:nvSpPr>
          <p:cNvPr id="24" name="Text 22"/>
          <p:cNvSpPr/>
          <p:nvPr/>
        </p:nvSpPr>
        <p:spPr>
          <a:xfrm>
            <a:off x="4279392" y="3803904"/>
            <a:ext cx="4407408" cy="950976"/>
          </a:xfrm>
          <a:prstGeom prst="rect">
            <a:avLst/>
          </a:prstGeom>
          <a:noFill/>
          <a:ln/>
        </p:spPr>
        <p:txBody>
          <a:bodyPr wrap="square" lIns="0" tIns="0" rIns="0" bIns="0" rtlCol="0" anchor="t"/>
          <a:lstStyle/>
          <a:p>
            <a:pPr indent="0" marL="0">
              <a:buNone/>
            </a:pPr>
            <a:r>
              <a:rPr lang="en-US" sz="980" dirty="0">
                <a:solidFill>
                  <a:srgbClr val="B0C4D8"/>
                </a:solidFill>
                <a:latin typeface="Calibri" pitchFamily="34" charset="0"/>
                <a:ea typeface="Calibri" pitchFamily="34" charset="-122"/>
                <a:cs typeface="Calibri" pitchFamily="34" charset="-120"/>
              </a:rPr>
              <a:t>No imputation, estimation, or filling of any kind was performed. Rows with null values are simply excluded from query results. The dataset is used strictly as-is. The trade-off (excluding 21.2% of runtime records) is acknowledged.</a:t>
            </a:r>
            <a:endParaRPr lang="en-US" sz="980" dirty="0"/>
          </a:p>
        </p:txBody>
      </p:sp>
      <p:sp>
        <p:nvSpPr>
          <p:cNvPr id="25" name="Text 23"/>
          <p:cNvSpPr/>
          <p:nvPr/>
        </p:nvSpPr>
        <p:spPr>
          <a:xfrm>
            <a:off x="365760" y="4892040"/>
            <a:ext cx="8412480" cy="182880"/>
          </a:xfrm>
          <a:prstGeom prst="rect">
            <a:avLst/>
          </a:prstGeom>
          <a:noFill/>
          <a:ln/>
        </p:spPr>
        <p:txBody>
          <a:bodyPr wrap="square" rtlCol="0" anchor="ctr"/>
          <a:lstStyle/>
          <a:p>
            <a:pPr indent="0" marL="0">
              <a:buNone/>
            </a:pPr>
            <a:r>
              <a:rPr lang="en-US" sz="800" dirty="0">
                <a:solidFill>
                  <a:srgbClr val="5C6B8A"/>
                </a:solidFill>
                <a:latin typeface="Calibri" pitchFamily="34" charset="0"/>
                <a:ea typeface="Calibri" pitchFamily="34" charset="-122"/>
                <a:cs typeface="Calibri" pitchFamily="34" charset="-120"/>
              </a:rPr>
              <a:t>Source: IMDB  |  145,081 movies  |  SQL Summative Lab — Part 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2026-04-26T02:59:16Z</dcterms:created>
  <dcterms:modified xsi:type="dcterms:W3CDTF">2026-04-26T02:59:16Z</dcterms:modified>
</cp:coreProperties>
</file>